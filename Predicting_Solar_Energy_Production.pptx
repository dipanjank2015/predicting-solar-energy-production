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99" y="8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3F"/>
                </a:solidFill>
                <a:latin typeface="Calibri"/>
              </a:defRPr>
            </a:pPr>
            <a:r>
              <a:rPr lang="en-IN" sz="1300" b="0" i="0" u="none" strike="noStrike">
                <a:solidFill>
                  <a:srgbClr val="12233F"/>
                </a:solidFill>
                <a:latin typeface="Calibri"/>
              </a:rPr>
              <a:t>Missing Values by Column (%)</a:t>
            </a:r>
          </a:p>
        </c:rich>
      </c:tx>
      <c:overlay val="0"/>
    </c:title>
    <c:autoTitleDeleted val="0"/>
    <c:plotArea>
      <c:layout/>
      <c:barChart>
        <c:barDir val="bar"/>
        <c:grouping val="clustered"/>
        <c:varyColors val="0"/>
        <c:ser>
          <c:idx val="0"/>
          <c:order val="0"/>
          <c:tx>
            <c:strRef>
              <c:f>Sheet1!$B$1</c:f>
              <c:strCache>
                <c:ptCount val="1"/>
                <c:pt idx="0">
                  <c:v>% Missing</c:v>
                </c:pt>
              </c:strCache>
            </c:strRef>
          </c:tx>
          <c:spPr>
            <a:solidFill>
              <a:srgbClr val="F2A93B"/>
            </a:solidFill>
            <a:effectLst/>
          </c:spPr>
          <c:invertIfNegative val="0"/>
          <c:dLbls>
            <c:numFmt formatCode="0.0" sourceLinked="0"/>
            <c:spPr>
              <a:noFill/>
              <a:ln>
                <a:noFill/>
              </a:ln>
              <a:effectLst/>
            </c:spPr>
            <c:txPr>
              <a:bodyPr/>
              <a:lstStyle/>
              <a:p>
                <a:pPr>
                  <a:defRPr sz="900" b="0" i="0" u="none" strike="noStrike">
                    <a:solidFill>
                      <a:srgbClr val="1223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Circuit_ID</c:v>
                </c:pt>
                <c:pt idx="1">
                  <c:v>City</c:v>
                </c:pt>
                <c:pt idx="2">
                  <c:v>Zip</c:v>
                </c:pt>
                <c:pt idx="3">
                  <c:v>Metering Method</c:v>
                </c:pt>
                <c:pt idx="4">
                  <c:v>PV_kWac</c:v>
                </c:pt>
                <c:pt idx="5">
                  <c:v>PV_kWdc</c:v>
                </c:pt>
                <c:pt idx="6">
                  <c:v>Annual_Energy</c:v>
                </c:pt>
                <c:pt idx="7">
                  <c:v>Developer</c:v>
                </c:pt>
                <c:pt idx="8">
                  <c:v>Substation</c:v>
                </c:pt>
                <c:pt idx="9">
                  <c:v>Division</c:v>
                </c:pt>
                <c:pt idx="10">
                  <c:v>Storage_kWac</c:v>
                </c:pt>
              </c:strCache>
            </c:strRef>
          </c:cat>
          <c:val>
            <c:numRef>
              <c:f>Sheet1!$B$2:$B$12</c:f>
              <c:numCache>
                <c:formatCode>General</c:formatCode>
                <c:ptCount val="11"/>
                <c:pt idx="0">
                  <c:v>0</c:v>
                </c:pt>
                <c:pt idx="1">
                  <c:v>0</c:v>
                </c:pt>
                <c:pt idx="2">
                  <c:v>0</c:v>
                </c:pt>
                <c:pt idx="3">
                  <c:v>0.2</c:v>
                </c:pt>
                <c:pt idx="4">
                  <c:v>1.4</c:v>
                </c:pt>
                <c:pt idx="5">
                  <c:v>1.5</c:v>
                </c:pt>
                <c:pt idx="6">
                  <c:v>1.7</c:v>
                </c:pt>
                <c:pt idx="7">
                  <c:v>4.8</c:v>
                </c:pt>
                <c:pt idx="8">
                  <c:v>36.700000000000003</c:v>
                </c:pt>
                <c:pt idx="9">
                  <c:v>39.1</c:v>
                </c:pt>
                <c:pt idx="10">
                  <c:v>98.1</c:v>
                </c:pt>
              </c:numCache>
            </c:numRef>
          </c:val>
          <c:extLst>
            <c:ext xmlns:c16="http://schemas.microsoft.com/office/drawing/2014/chart" uri="{C3380CC4-5D6E-409C-BE32-E72D297353CC}">
              <c16:uniqueId val="{00000000-4614-4837-8075-4022C166C0F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3F"/>
                </a:solidFill>
                <a:latin typeface="Calibri"/>
              </a:defRPr>
            </a:pPr>
            <a:r>
              <a:rPr lang="en-US" sz="1300" b="0" i="0" u="none" strike="noStrike">
                <a:solidFill>
                  <a:srgbClr val="12233F"/>
                </a:solidFill>
                <a:latin typeface="Calibri"/>
              </a:rPr>
              <a:t>Top 10 Cities by Avg. Annual Energy</a:t>
            </a:r>
          </a:p>
        </c:rich>
      </c:tx>
      <c:overlay val="0"/>
    </c:title>
    <c:autoTitleDeleted val="0"/>
    <c:plotArea>
      <c:layout/>
      <c:barChart>
        <c:barDir val="bar"/>
        <c:grouping val="clustered"/>
        <c:varyColors val="0"/>
        <c:ser>
          <c:idx val="0"/>
          <c:order val="0"/>
          <c:tx>
            <c:strRef>
              <c:f>Sheet1!$B$1</c:f>
              <c:strCache>
                <c:ptCount val="1"/>
                <c:pt idx="0">
                  <c:v>Avg. Annual Energy (kWh)</c:v>
                </c:pt>
              </c:strCache>
            </c:strRef>
          </c:tx>
          <c:spPr>
            <a:solidFill>
              <a:srgbClr val="E8580C"/>
            </a:solidFill>
            <a:effectLst/>
          </c:spPr>
          <c:invertIfNegative val="0"/>
          <c:cat>
            <c:strRef>
              <c:f>Sheet1!$A$2:$A$11</c:f>
              <c:strCache>
                <c:ptCount val="10"/>
                <c:pt idx="0">
                  <c:v>East Fishkill</c:v>
                </c:pt>
                <c:pt idx="1">
                  <c:v>Benton</c:v>
                </c:pt>
                <c:pt idx="2">
                  <c:v>Fayette</c:v>
                </c:pt>
                <c:pt idx="3">
                  <c:v>Portage</c:v>
                </c:pt>
                <c:pt idx="4">
                  <c:v>Mt. Morris</c:v>
                </c:pt>
                <c:pt idx="5">
                  <c:v>Lapeer</c:v>
                </c:pt>
                <c:pt idx="6">
                  <c:v>Sangerfield</c:v>
                </c:pt>
                <c:pt idx="7">
                  <c:v>Troupsburg</c:v>
                </c:pt>
                <c:pt idx="8">
                  <c:v>Troupsberg</c:v>
                </c:pt>
                <c:pt idx="9">
                  <c:v>Wadsworth</c:v>
                </c:pt>
              </c:strCache>
            </c:strRef>
          </c:cat>
          <c:val>
            <c:numRef>
              <c:f>Sheet1!$B$2:$B$11</c:f>
              <c:numCache>
                <c:formatCode>General</c:formatCode>
                <c:ptCount val="10"/>
                <c:pt idx="0">
                  <c:v>8067098</c:v>
                </c:pt>
                <c:pt idx="1">
                  <c:v>8079733</c:v>
                </c:pt>
                <c:pt idx="2">
                  <c:v>8080057</c:v>
                </c:pt>
                <c:pt idx="3">
                  <c:v>8080057</c:v>
                </c:pt>
                <c:pt idx="4">
                  <c:v>8099496</c:v>
                </c:pt>
                <c:pt idx="5">
                  <c:v>8099496</c:v>
                </c:pt>
                <c:pt idx="6">
                  <c:v>8099496</c:v>
                </c:pt>
                <c:pt idx="7">
                  <c:v>8099496</c:v>
                </c:pt>
                <c:pt idx="8">
                  <c:v>8099496</c:v>
                </c:pt>
                <c:pt idx="9">
                  <c:v>8099496</c:v>
                </c:pt>
              </c:numCache>
            </c:numRef>
          </c:val>
          <c:extLst>
            <c:ext xmlns:c16="http://schemas.microsoft.com/office/drawing/2014/chart" uri="{C3380CC4-5D6E-409C-BE32-E72D297353CC}">
              <c16:uniqueId val="{00000000-3257-4341-94D1-35CA8405C143}"/>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0,,&quot;M&quot;" sourceLinked="0"/>
        <c:majorTickMark val="out"/>
        <c:minorTickMark val="none"/>
        <c:tickLblPos val="low"/>
        <c:spPr>
          <a:ln w="12700" cap="flat">
            <a:solidFill>
              <a:srgbClr val="888888"/>
            </a:solidFill>
            <a:prstDash val="solid"/>
            <a:round/>
          </a:ln>
        </c:spPr>
        <c:txPr>
          <a:bodyPr/>
          <a:lstStyle/>
          <a:p>
            <a:pPr>
              <a:defRPr sz="85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3F"/>
                </a:solidFill>
                <a:latin typeface="Calibri"/>
              </a:defRPr>
            </a:pPr>
            <a:r>
              <a:rPr lang="en-IN" sz="1300" b="0" i="0" u="none" strike="noStrike">
                <a:solidFill>
                  <a:srgbClr val="12233F"/>
                </a:solidFill>
                <a:latin typeface="Calibri"/>
              </a:rPr>
              <a:t>R² Score by Model</a:t>
            </a:r>
          </a:p>
        </c:rich>
      </c:tx>
      <c:overlay val="0"/>
    </c:title>
    <c:autoTitleDeleted val="0"/>
    <c:plotArea>
      <c:layout/>
      <c:barChart>
        <c:barDir val="col"/>
        <c:grouping val="clustered"/>
        <c:varyColors val="0"/>
        <c:ser>
          <c:idx val="0"/>
          <c:order val="0"/>
          <c:tx>
            <c:strRef>
              <c:f>Sheet1!$B$1</c:f>
              <c:strCache>
                <c:ptCount val="1"/>
                <c:pt idx="0">
                  <c:v>R²</c:v>
                </c:pt>
              </c:strCache>
            </c:strRef>
          </c:tx>
          <c:spPr>
            <a:solidFill>
              <a:srgbClr val="F2A93B"/>
            </a:solidFill>
            <a:effectLst/>
          </c:spPr>
          <c:invertIfNegative val="0"/>
          <c:dLbls>
            <c:numFmt formatCode="0.0000" sourceLinked="0"/>
            <c:spPr>
              <a:noFill/>
              <a:ln>
                <a:noFill/>
              </a:ln>
              <a:effectLst/>
            </c:spPr>
            <c:txPr>
              <a:bodyPr/>
              <a:lstStyle/>
              <a:p>
                <a:pPr>
                  <a:defRPr sz="1050" b="0" i="0" u="none" strike="noStrike">
                    <a:solidFill>
                      <a:srgbClr val="1223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Random Forest</c:v>
                </c:pt>
                <c:pt idx="2">
                  <c:v>Gradient Boosting</c:v>
                </c:pt>
              </c:strCache>
            </c:strRef>
          </c:cat>
          <c:val>
            <c:numRef>
              <c:f>Sheet1!$B$2:$B$4</c:f>
              <c:numCache>
                <c:formatCode>General</c:formatCode>
                <c:ptCount val="3"/>
                <c:pt idx="0">
                  <c:v>1</c:v>
                </c:pt>
                <c:pt idx="1">
                  <c:v>0.99460000000000004</c:v>
                </c:pt>
                <c:pt idx="2">
                  <c:v>0.97740000000000005</c:v>
                </c:pt>
              </c:numCache>
            </c:numRef>
          </c:val>
          <c:extLst>
            <c:ext xmlns:c16="http://schemas.microsoft.com/office/drawing/2014/chart" uri="{C3380CC4-5D6E-409C-BE32-E72D297353CC}">
              <c16:uniqueId val="{00000000-17AC-4BF5-A6CB-06825BA3E8B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max val="1"/>
          <c:min val="0.95"/>
        </c:scaling>
        <c:delete val="0"/>
        <c:axPos val="l"/>
        <c:majorGridlines>
          <c:spPr>
            <a:ln w="9525"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3F"/>
                </a:solidFill>
                <a:latin typeface="Calibri"/>
              </a:defRPr>
            </a:pPr>
            <a:r>
              <a:rPr lang="en-US" sz="1300" b="0" i="0" u="none" strike="noStrike">
                <a:solidFill>
                  <a:srgbClr val="12233F"/>
                </a:solidFill>
                <a:latin typeface="Calibri"/>
              </a:rPr>
              <a:t>Top 10 Features by Importance (Random Forest)</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2233F"/>
            </a:solidFill>
            <a:effectLst/>
          </c:spPr>
          <c:invertIfNegative val="0"/>
          <c:dLbls>
            <c:numFmt formatCode="0.0%" sourceLinked="0"/>
            <c:spPr>
              <a:noFill/>
              <a:ln>
                <a:noFill/>
              </a:ln>
              <a:effectLst/>
            </c:spPr>
            <c:txPr>
              <a:bodyPr/>
              <a:lstStyle/>
              <a:p>
                <a:pPr>
                  <a:defRPr sz="900" b="0" i="0" u="none" strike="noStrike">
                    <a:solidFill>
                      <a:srgbClr val="1223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Utility_PSEGLI</c:v>
                </c:pt>
                <c:pt idx="1">
                  <c:v>County_Suffolk</c:v>
                </c:pt>
                <c:pt idx="2">
                  <c:v>Developer_Vivint Solar</c:v>
                </c:pt>
                <c:pt idx="3">
                  <c:v>Conn_Date_2018-07-01</c:v>
                </c:pt>
                <c:pt idx="4">
                  <c:v>Connection_Year</c:v>
                </c:pt>
                <c:pt idx="5">
                  <c:v>Circuit_ID_JA NWK</c:v>
                </c:pt>
                <c:pt idx="6">
                  <c:v>Conn_Date_2011-11-01</c:v>
                </c:pt>
                <c:pt idx="7">
                  <c:v>City_STATEN ISLAND</c:v>
                </c:pt>
                <c:pt idx="8">
                  <c:v>PV_kWdc</c:v>
                </c:pt>
                <c:pt idx="9">
                  <c:v>PV_kWac</c:v>
                </c:pt>
              </c:strCache>
            </c:strRef>
          </c:cat>
          <c:val>
            <c:numRef>
              <c:f>Sheet1!$B$2:$B$11</c:f>
              <c:numCache>
                <c:formatCode>General</c:formatCode>
                <c:ptCount val="10"/>
                <c:pt idx="0">
                  <c:v>4.0000000000000002E-4</c:v>
                </c:pt>
                <c:pt idx="1">
                  <c:v>1.1999999999999999E-3</c:v>
                </c:pt>
                <c:pt idx="2">
                  <c:v>1.8E-3</c:v>
                </c:pt>
                <c:pt idx="3">
                  <c:v>2.8E-3</c:v>
                </c:pt>
                <c:pt idx="4">
                  <c:v>7.1000000000000004E-3</c:v>
                </c:pt>
                <c:pt idx="5">
                  <c:v>1.1900000000000001E-2</c:v>
                </c:pt>
                <c:pt idx="6">
                  <c:v>1.35E-2</c:v>
                </c:pt>
                <c:pt idx="7">
                  <c:v>1.9599999999999999E-2</c:v>
                </c:pt>
                <c:pt idx="8">
                  <c:v>0.41820000000000002</c:v>
                </c:pt>
                <c:pt idx="9">
                  <c:v>0.52180000000000004</c:v>
                </c:pt>
              </c:numCache>
            </c:numRef>
          </c:val>
          <c:extLst>
            <c:ext xmlns:c16="http://schemas.microsoft.com/office/drawing/2014/chart" uri="{C3380CC4-5D6E-409C-BE32-E72D297353CC}">
              <c16:uniqueId val="{00000000-71D8-4763-B636-808A7DD05347}"/>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13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9052560" y="-1463040"/>
            <a:ext cx="4754880" cy="4754880"/>
          </a:xfrm>
          <a:prstGeom prst="ellipse">
            <a:avLst/>
          </a:prstGeom>
          <a:solidFill>
            <a:srgbClr val="1B3A63"/>
          </a:solidFill>
          <a:ln/>
        </p:spPr>
      </p:sp>
      <p:sp>
        <p:nvSpPr>
          <p:cNvPr id="3" name="Shape 1"/>
          <p:cNvSpPr/>
          <p:nvPr/>
        </p:nvSpPr>
        <p:spPr>
          <a:xfrm>
            <a:off x="9692640" y="-822960"/>
            <a:ext cx="3474720" cy="3474720"/>
          </a:xfrm>
          <a:prstGeom prst="ellipse">
            <a:avLst/>
          </a:prstGeom>
          <a:solidFill>
            <a:srgbClr val="F2A93B"/>
          </a:solidFill>
          <a:ln/>
        </p:spPr>
      </p:sp>
      <p:sp>
        <p:nvSpPr>
          <p:cNvPr id="4" name="Shape 2"/>
          <p:cNvSpPr/>
          <p:nvPr/>
        </p:nvSpPr>
        <p:spPr>
          <a:xfrm>
            <a:off x="10332720" y="-182880"/>
            <a:ext cx="2194560" cy="2194560"/>
          </a:xfrm>
          <a:prstGeom prst="ellipse">
            <a:avLst/>
          </a:prstGeom>
          <a:solidFill>
            <a:srgbClr val="F2A93B"/>
          </a:solidFill>
          <a:ln/>
        </p:spPr>
      </p:sp>
      <p:sp>
        <p:nvSpPr>
          <p:cNvPr id="5" name="Text 3"/>
          <p:cNvSpPr/>
          <p:nvPr/>
        </p:nvSpPr>
        <p:spPr>
          <a:xfrm>
            <a:off x="640080" y="2103120"/>
            <a:ext cx="8229600" cy="365760"/>
          </a:xfrm>
          <a:prstGeom prst="rect">
            <a:avLst/>
          </a:prstGeom>
          <a:noFill/>
          <a:ln/>
        </p:spPr>
        <p:txBody>
          <a:bodyPr wrap="square" lIns="0" tIns="0" rIns="0" bIns="0" rtlCol="0" anchor="ctr"/>
          <a:lstStyle/>
          <a:p>
            <a:pPr marL="0" indent="0">
              <a:buNone/>
            </a:pPr>
            <a:r>
              <a:rPr lang="en-US" sz="1300" b="1" kern="0" spc="300" dirty="0">
                <a:solidFill>
                  <a:srgbClr val="F2A93B"/>
                </a:solidFill>
                <a:latin typeface="Calibri" pitchFamily="34" charset="0"/>
                <a:ea typeface="Calibri" pitchFamily="34" charset="-122"/>
                <a:cs typeface="Calibri" pitchFamily="34" charset="-120"/>
              </a:rPr>
              <a:t>PREDICTIVE ANALYTICS  ·  RENEWABLE ENERGY</a:t>
            </a:r>
            <a:endParaRPr lang="en-US" sz="1300" dirty="0"/>
          </a:p>
        </p:txBody>
      </p:sp>
      <p:sp>
        <p:nvSpPr>
          <p:cNvPr id="6" name="Text 4"/>
          <p:cNvSpPr/>
          <p:nvPr/>
        </p:nvSpPr>
        <p:spPr>
          <a:xfrm>
            <a:off x="594360" y="2468880"/>
            <a:ext cx="9875520" cy="178308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Predicting Solar Energy</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Production</a:t>
            </a:r>
            <a:endParaRPr lang="en-US" sz="4600" dirty="0"/>
          </a:p>
        </p:txBody>
      </p:sp>
      <p:sp>
        <p:nvSpPr>
          <p:cNvPr id="7" name="Text 5"/>
          <p:cNvSpPr/>
          <p:nvPr/>
        </p:nvSpPr>
        <p:spPr>
          <a:xfrm>
            <a:off x="640080" y="4279392"/>
            <a:ext cx="7863840" cy="685800"/>
          </a:xfrm>
          <a:prstGeom prst="rect">
            <a:avLst/>
          </a:prstGeom>
          <a:noFill/>
          <a:ln/>
        </p:spPr>
        <p:txBody>
          <a:bodyPr wrap="square" lIns="0" tIns="0" rIns="0" bIns="0" rtlCol="0" anchor="ctr"/>
          <a:lstStyle/>
          <a:p>
            <a:pPr marL="0" indent="0">
              <a:lnSpc>
                <a:spcPct val="125000"/>
              </a:lnSpc>
              <a:buNone/>
            </a:pPr>
            <a:r>
              <a:rPr lang="en-US" sz="1450" dirty="0">
                <a:solidFill>
                  <a:srgbClr val="C7D3E3"/>
                </a:solidFill>
                <a:latin typeface="Calibri" pitchFamily="34" charset="0"/>
                <a:ea typeface="Calibri" pitchFamily="34" charset="-122"/>
                <a:cs typeface="Calibri" pitchFamily="34" charset="-120"/>
              </a:rPr>
              <a:t>A machine-learning approach to forecasting annual PV energy output for grid integration, project planning, and ROI optimization</a:t>
            </a:r>
            <a:endParaRPr lang="en-US" sz="1450" dirty="0"/>
          </a:p>
        </p:txBody>
      </p:sp>
      <p:sp>
        <p:nvSpPr>
          <p:cNvPr id="8" name="Shape 6"/>
          <p:cNvSpPr/>
          <p:nvPr/>
        </p:nvSpPr>
        <p:spPr>
          <a:xfrm>
            <a:off x="640080" y="5166360"/>
            <a:ext cx="914400" cy="0"/>
          </a:xfrm>
          <a:prstGeom prst="line">
            <a:avLst/>
          </a:prstGeom>
          <a:noFill/>
          <a:ln w="31750">
            <a:solidFill>
              <a:srgbClr val="F2A93B"/>
            </a:solidFill>
            <a:prstDash val="solid"/>
          </a:ln>
        </p:spPr>
      </p:sp>
      <p:sp>
        <p:nvSpPr>
          <p:cNvPr id="9" name="Text 7"/>
          <p:cNvSpPr/>
          <p:nvPr/>
        </p:nvSpPr>
        <p:spPr>
          <a:xfrm>
            <a:off x="640080" y="5349240"/>
            <a:ext cx="9144000" cy="365760"/>
          </a:xfrm>
          <a:prstGeom prst="rect">
            <a:avLst/>
          </a:prstGeom>
          <a:noFill/>
          <a:ln/>
        </p:spPr>
        <p:txBody>
          <a:bodyPr wrap="square" lIns="0" tIns="0" rIns="0" bIns="0" rtlCol="0" anchor="ctr"/>
          <a:lstStyle/>
          <a:p>
            <a:pPr marL="0" indent="0">
              <a:buNone/>
            </a:pPr>
            <a:r>
              <a:rPr lang="en-US" sz="1200" dirty="0">
                <a:solidFill>
                  <a:srgbClr val="9AA9C0"/>
                </a:solidFill>
                <a:latin typeface="Calibri" pitchFamily="34" charset="0"/>
                <a:ea typeface="Calibri" pitchFamily="34" charset="-122"/>
                <a:cs typeface="Calibri" pitchFamily="34" charset="-120"/>
              </a:rPr>
              <a:t>Dipanjan Karmakar  |  Data Science &amp; Generative AI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BUSINESS CONTEXT</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Why predict solar energy production?</a:t>
            </a:r>
            <a:endParaRPr lang="en-US" sz="2900" dirty="0"/>
          </a:p>
        </p:txBody>
      </p:sp>
      <p:sp>
        <p:nvSpPr>
          <p:cNvPr id="4" name="Text 2"/>
          <p:cNvSpPr/>
          <p:nvPr/>
        </p:nvSpPr>
        <p:spPr>
          <a:xfrm>
            <a:off x="548640" y="1325880"/>
            <a:ext cx="5760720" cy="1783080"/>
          </a:xfrm>
          <a:prstGeom prst="rect">
            <a:avLst/>
          </a:prstGeom>
          <a:noFill/>
          <a:ln/>
        </p:spPr>
        <p:txBody>
          <a:bodyPr wrap="square" lIns="0" tIns="0" rIns="0" bIns="0" rtlCol="0" anchor="ctr"/>
          <a:lstStyle/>
          <a:p>
            <a:pPr marL="0" indent="0">
              <a:lnSpc>
                <a:spcPct val="135000"/>
              </a:lnSpc>
              <a:buNone/>
            </a:pPr>
            <a:r>
              <a:rPr lang="en-US" sz="1400" dirty="0">
                <a:solidFill>
                  <a:srgbClr val="1B2430"/>
                </a:solidFill>
                <a:latin typeface="Calibri" pitchFamily="34" charset="0"/>
                <a:ea typeface="Calibri" pitchFamily="34" charset="-122"/>
                <a:cs typeface="Calibri" pitchFamily="34" charset="-120"/>
              </a:rPr>
              <a:t>A prominent renewable energy provider is expanding its solar portfolio while ensuring efficient grid integration. Accurately forecasting annual PV energy output is central to project planning, interconnection decisions, and maximizing return on investment across thousands of distributed solar installations.</a:t>
            </a:r>
            <a:endParaRPr lang="en-US" sz="1400" dirty="0"/>
          </a:p>
        </p:txBody>
      </p:sp>
      <p:sp>
        <p:nvSpPr>
          <p:cNvPr id="5" name="Shape 3"/>
          <p:cNvSpPr/>
          <p:nvPr/>
        </p:nvSpPr>
        <p:spPr>
          <a:xfrm>
            <a:off x="548640" y="3246120"/>
            <a:ext cx="5760720" cy="804672"/>
          </a:xfrm>
          <a:prstGeom prst="roundRect">
            <a:avLst>
              <a:gd name="adj" fmla="val 9091"/>
            </a:avLst>
          </a:prstGeom>
          <a:solidFill>
            <a:srgbClr val="F5F6F8"/>
          </a:solidFill>
          <a:ln/>
        </p:spPr>
      </p:sp>
      <p:sp>
        <p:nvSpPr>
          <p:cNvPr id="6" name="Shape 4"/>
          <p:cNvSpPr/>
          <p:nvPr/>
        </p:nvSpPr>
        <p:spPr>
          <a:xfrm>
            <a:off x="713232" y="3419856"/>
            <a:ext cx="457200" cy="457200"/>
          </a:xfrm>
          <a:prstGeom prst="ellipse">
            <a:avLst/>
          </a:prstGeom>
          <a:solidFill>
            <a:srgbClr val="12233F"/>
          </a:solidFill>
          <a:ln/>
        </p:spPr>
      </p:sp>
      <p:sp>
        <p:nvSpPr>
          <p:cNvPr id="7" name="Text 5"/>
          <p:cNvSpPr/>
          <p:nvPr/>
        </p:nvSpPr>
        <p:spPr>
          <a:xfrm>
            <a:off x="713232" y="3419856"/>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libri" pitchFamily="34" charset="0"/>
                <a:ea typeface="Calibri" pitchFamily="34" charset="-122"/>
                <a:cs typeface="Calibri" pitchFamily="34" charset="-120"/>
              </a:rPr>
              <a:t>G</a:t>
            </a:r>
            <a:endParaRPr lang="en-US" sz="1800" dirty="0"/>
          </a:p>
        </p:txBody>
      </p:sp>
      <p:sp>
        <p:nvSpPr>
          <p:cNvPr id="8" name="Text 6"/>
          <p:cNvSpPr/>
          <p:nvPr/>
        </p:nvSpPr>
        <p:spPr>
          <a:xfrm>
            <a:off x="1371600" y="3319272"/>
            <a:ext cx="4754880" cy="292608"/>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Grid Integration</a:t>
            </a:r>
            <a:endParaRPr lang="en-US" sz="1400" dirty="0"/>
          </a:p>
        </p:txBody>
      </p:sp>
      <p:sp>
        <p:nvSpPr>
          <p:cNvPr id="9" name="Text 7"/>
          <p:cNvSpPr/>
          <p:nvPr/>
        </p:nvSpPr>
        <p:spPr>
          <a:xfrm>
            <a:off x="1371600" y="3593592"/>
            <a:ext cx="4800600" cy="420624"/>
          </a:xfrm>
          <a:prstGeom prst="rect">
            <a:avLst/>
          </a:prstGeom>
          <a:noFill/>
          <a:ln/>
        </p:spPr>
        <p:txBody>
          <a:bodyPr wrap="square" lIns="0" tIns="0" rIns="0" bIns="0" rtlCol="0" anchor="ctr"/>
          <a:lstStyle/>
          <a:p>
            <a:pPr marL="0" indent="0">
              <a:lnSpc>
                <a:spcPct val="120000"/>
              </a:lnSpc>
              <a:buNone/>
            </a:pPr>
            <a:r>
              <a:rPr lang="en-US" sz="1100" dirty="0">
                <a:solidFill>
                  <a:srgbClr val="6B7686"/>
                </a:solidFill>
                <a:latin typeface="Calibri" pitchFamily="34" charset="0"/>
                <a:ea typeface="Calibri" pitchFamily="34" charset="-122"/>
                <a:cs typeface="Calibri" pitchFamily="34" charset="-120"/>
              </a:rPr>
              <a:t>Forecast expected generation to plan capacity and interconnection ahead of time.</a:t>
            </a:r>
            <a:endParaRPr lang="en-US" sz="1100" dirty="0"/>
          </a:p>
        </p:txBody>
      </p:sp>
      <p:sp>
        <p:nvSpPr>
          <p:cNvPr id="10" name="Shape 8"/>
          <p:cNvSpPr/>
          <p:nvPr/>
        </p:nvSpPr>
        <p:spPr>
          <a:xfrm>
            <a:off x="548640" y="4206240"/>
            <a:ext cx="5760720" cy="804672"/>
          </a:xfrm>
          <a:prstGeom prst="roundRect">
            <a:avLst>
              <a:gd name="adj" fmla="val 9091"/>
            </a:avLst>
          </a:prstGeom>
          <a:solidFill>
            <a:srgbClr val="F5F6F8"/>
          </a:solidFill>
          <a:ln/>
        </p:spPr>
      </p:sp>
      <p:sp>
        <p:nvSpPr>
          <p:cNvPr id="11" name="Shape 9"/>
          <p:cNvSpPr/>
          <p:nvPr/>
        </p:nvSpPr>
        <p:spPr>
          <a:xfrm>
            <a:off x="713232" y="4379976"/>
            <a:ext cx="457200" cy="457200"/>
          </a:xfrm>
          <a:prstGeom prst="ellipse">
            <a:avLst/>
          </a:prstGeom>
          <a:solidFill>
            <a:srgbClr val="12233F"/>
          </a:solidFill>
          <a:ln/>
        </p:spPr>
      </p:sp>
      <p:sp>
        <p:nvSpPr>
          <p:cNvPr id="12" name="Text 10"/>
          <p:cNvSpPr/>
          <p:nvPr/>
        </p:nvSpPr>
        <p:spPr>
          <a:xfrm>
            <a:off x="713232" y="4379976"/>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libri" pitchFamily="34" charset="0"/>
                <a:ea typeface="Calibri" pitchFamily="34" charset="-122"/>
                <a:cs typeface="Calibri" pitchFamily="34" charset="-120"/>
              </a:rPr>
              <a:t>R</a:t>
            </a:r>
            <a:endParaRPr lang="en-US" sz="1800" dirty="0"/>
          </a:p>
        </p:txBody>
      </p:sp>
      <p:sp>
        <p:nvSpPr>
          <p:cNvPr id="13" name="Text 11"/>
          <p:cNvSpPr/>
          <p:nvPr/>
        </p:nvSpPr>
        <p:spPr>
          <a:xfrm>
            <a:off x="1371600" y="4279392"/>
            <a:ext cx="4754880" cy="292608"/>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Investment ROI</a:t>
            </a:r>
            <a:endParaRPr lang="en-US" sz="1400" dirty="0"/>
          </a:p>
        </p:txBody>
      </p:sp>
      <p:sp>
        <p:nvSpPr>
          <p:cNvPr id="14" name="Text 12"/>
          <p:cNvSpPr/>
          <p:nvPr/>
        </p:nvSpPr>
        <p:spPr>
          <a:xfrm>
            <a:off x="1371600" y="4553712"/>
            <a:ext cx="4800600" cy="420624"/>
          </a:xfrm>
          <a:prstGeom prst="rect">
            <a:avLst/>
          </a:prstGeom>
          <a:noFill/>
          <a:ln/>
        </p:spPr>
        <p:txBody>
          <a:bodyPr wrap="square" lIns="0" tIns="0" rIns="0" bIns="0" rtlCol="0" anchor="ctr"/>
          <a:lstStyle/>
          <a:p>
            <a:pPr marL="0" indent="0">
              <a:lnSpc>
                <a:spcPct val="120000"/>
              </a:lnSpc>
              <a:buNone/>
            </a:pPr>
            <a:r>
              <a:rPr lang="en-US" sz="1100" dirty="0">
                <a:solidFill>
                  <a:srgbClr val="6B7686"/>
                </a:solidFill>
                <a:latin typeface="Calibri" pitchFamily="34" charset="0"/>
                <a:ea typeface="Calibri" pitchFamily="34" charset="-122"/>
                <a:cs typeface="Calibri" pitchFamily="34" charset="-120"/>
              </a:rPr>
              <a:t>Identify high-performing project profiles before capital is committed.</a:t>
            </a:r>
            <a:endParaRPr lang="en-US" sz="1100" dirty="0"/>
          </a:p>
        </p:txBody>
      </p:sp>
      <p:sp>
        <p:nvSpPr>
          <p:cNvPr id="15" name="Shape 13"/>
          <p:cNvSpPr/>
          <p:nvPr/>
        </p:nvSpPr>
        <p:spPr>
          <a:xfrm>
            <a:off x="548640" y="5166360"/>
            <a:ext cx="5760720" cy="804672"/>
          </a:xfrm>
          <a:prstGeom prst="roundRect">
            <a:avLst>
              <a:gd name="adj" fmla="val 9091"/>
            </a:avLst>
          </a:prstGeom>
          <a:solidFill>
            <a:srgbClr val="F5F6F8"/>
          </a:solidFill>
          <a:ln/>
        </p:spPr>
      </p:sp>
      <p:sp>
        <p:nvSpPr>
          <p:cNvPr id="16" name="Shape 14"/>
          <p:cNvSpPr/>
          <p:nvPr/>
        </p:nvSpPr>
        <p:spPr>
          <a:xfrm>
            <a:off x="713232" y="5340096"/>
            <a:ext cx="457200" cy="457200"/>
          </a:xfrm>
          <a:prstGeom prst="ellipse">
            <a:avLst/>
          </a:prstGeom>
          <a:solidFill>
            <a:srgbClr val="12233F"/>
          </a:solidFill>
          <a:ln/>
        </p:spPr>
      </p:sp>
      <p:sp>
        <p:nvSpPr>
          <p:cNvPr id="17" name="Text 15"/>
          <p:cNvSpPr/>
          <p:nvPr/>
        </p:nvSpPr>
        <p:spPr>
          <a:xfrm>
            <a:off x="713232" y="5340096"/>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libri" pitchFamily="34" charset="0"/>
                <a:ea typeface="Calibri" pitchFamily="34" charset="-122"/>
                <a:cs typeface="Calibri" pitchFamily="34" charset="-120"/>
              </a:rPr>
              <a:t>S</a:t>
            </a:r>
            <a:endParaRPr lang="en-US" sz="1800" dirty="0"/>
          </a:p>
        </p:txBody>
      </p:sp>
      <p:sp>
        <p:nvSpPr>
          <p:cNvPr id="18" name="Text 16"/>
          <p:cNvSpPr/>
          <p:nvPr/>
        </p:nvSpPr>
        <p:spPr>
          <a:xfrm>
            <a:off x="1371600" y="5239512"/>
            <a:ext cx="4754880" cy="292608"/>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System Design</a:t>
            </a:r>
            <a:endParaRPr lang="en-US" sz="1400" dirty="0"/>
          </a:p>
        </p:txBody>
      </p:sp>
      <p:sp>
        <p:nvSpPr>
          <p:cNvPr id="19" name="Text 17"/>
          <p:cNvSpPr/>
          <p:nvPr/>
        </p:nvSpPr>
        <p:spPr>
          <a:xfrm>
            <a:off x="1371600" y="5513832"/>
            <a:ext cx="4800600" cy="420624"/>
          </a:xfrm>
          <a:prstGeom prst="rect">
            <a:avLst/>
          </a:prstGeom>
          <a:noFill/>
          <a:ln/>
        </p:spPr>
        <p:txBody>
          <a:bodyPr wrap="square" lIns="0" tIns="0" rIns="0" bIns="0" rtlCol="0" anchor="ctr"/>
          <a:lstStyle/>
          <a:p>
            <a:pPr marL="0" indent="0">
              <a:lnSpc>
                <a:spcPct val="120000"/>
              </a:lnSpc>
              <a:buNone/>
            </a:pPr>
            <a:r>
              <a:rPr lang="en-US" sz="1100" dirty="0">
                <a:solidFill>
                  <a:srgbClr val="6B7686"/>
                </a:solidFill>
                <a:latin typeface="Calibri" pitchFamily="34" charset="0"/>
                <a:ea typeface="Calibri" pitchFamily="34" charset="-122"/>
                <a:cs typeface="Calibri" pitchFamily="34" charset="-120"/>
              </a:rPr>
              <a:t>Right-size PV capacity (kWdc / kWac) to hit target annual output.</a:t>
            </a:r>
            <a:endParaRPr lang="en-US" sz="1100" dirty="0"/>
          </a:p>
        </p:txBody>
      </p:sp>
      <p:sp>
        <p:nvSpPr>
          <p:cNvPr id="20" name="Shape 18"/>
          <p:cNvSpPr/>
          <p:nvPr/>
        </p:nvSpPr>
        <p:spPr>
          <a:xfrm>
            <a:off x="6675120" y="1280160"/>
            <a:ext cx="4937760" cy="4892040"/>
          </a:xfrm>
          <a:prstGeom prst="roundRect">
            <a:avLst>
              <a:gd name="adj" fmla="val 1869"/>
            </a:avLst>
          </a:prstGeom>
          <a:solidFill>
            <a:srgbClr val="12233F"/>
          </a:solidFill>
          <a:ln/>
        </p:spPr>
      </p:sp>
      <p:sp>
        <p:nvSpPr>
          <p:cNvPr id="21" name="Text 19"/>
          <p:cNvSpPr/>
          <p:nvPr/>
        </p:nvSpPr>
        <p:spPr>
          <a:xfrm>
            <a:off x="7086600" y="1572768"/>
            <a:ext cx="420624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DATASET SNAPSHOT</a:t>
            </a:r>
            <a:endParaRPr lang="en-US" sz="1200" dirty="0"/>
          </a:p>
        </p:txBody>
      </p:sp>
      <p:sp>
        <p:nvSpPr>
          <p:cNvPr id="22" name="Text 20"/>
          <p:cNvSpPr/>
          <p:nvPr/>
        </p:nvSpPr>
        <p:spPr>
          <a:xfrm>
            <a:off x="7086600" y="2103120"/>
            <a:ext cx="1737360" cy="50292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218,115</a:t>
            </a:r>
            <a:endParaRPr lang="en-US" sz="2500" dirty="0"/>
          </a:p>
        </p:txBody>
      </p:sp>
      <p:sp>
        <p:nvSpPr>
          <p:cNvPr id="23" name="Text 21"/>
          <p:cNvSpPr/>
          <p:nvPr/>
        </p:nvSpPr>
        <p:spPr>
          <a:xfrm>
            <a:off x="7086600" y="2606040"/>
            <a:ext cx="4206240" cy="502920"/>
          </a:xfrm>
          <a:prstGeom prst="rect">
            <a:avLst/>
          </a:prstGeom>
          <a:noFill/>
          <a:ln/>
        </p:spPr>
        <p:txBody>
          <a:bodyPr wrap="square" lIns="0" tIns="0" rIns="0" bIns="0" rtlCol="0" anchor="ctr"/>
          <a:lstStyle/>
          <a:p>
            <a:pPr marL="0" indent="0">
              <a:lnSpc>
                <a:spcPct val="120000"/>
              </a:lnSpc>
              <a:buNone/>
            </a:pPr>
            <a:r>
              <a:rPr lang="en-US" sz="1050" dirty="0">
                <a:solidFill>
                  <a:srgbClr val="AEBBD1"/>
                </a:solidFill>
                <a:latin typeface="Calibri" pitchFamily="34" charset="0"/>
                <a:ea typeface="Calibri" pitchFamily="34" charset="-122"/>
                <a:cs typeface="Calibri" pitchFamily="34" charset="-120"/>
              </a:rPr>
              <a:t>installed PV projects across New York State utility territories</a:t>
            </a:r>
            <a:endParaRPr lang="en-US" sz="1050" dirty="0"/>
          </a:p>
        </p:txBody>
      </p:sp>
      <p:sp>
        <p:nvSpPr>
          <p:cNvPr id="24" name="Text 22"/>
          <p:cNvSpPr/>
          <p:nvPr/>
        </p:nvSpPr>
        <p:spPr>
          <a:xfrm>
            <a:off x="7086600" y="3163824"/>
            <a:ext cx="1737360" cy="50292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17</a:t>
            </a:r>
            <a:endParaRPr lang="en-US" sz="2500" dirty="0"/>
          </a:p>
        </p:txBody>
      </p:sp>
      <p:sp>
        <p:nvSpPr>
          <p:cNvPr id="25" name="Text 23"/>
          <p:cNvSpPr/>
          <p:nvPr/>
        </p:nvSpPr>
        <p:spPr>
          <a:xfrm>
            <a:off x="7086600" y="3666744"/>
            <a:ext cx="4206240" cy="502920"/>
          </a:xfrm>
          <a:prstGeom prst="rect">
            <a:avLst/>
          </a:prstGeom>
          <a:noFill/>
          <a:ln/>
        </p:spPr>
        <p:txBody>
          <a:bodyPr wrap="square" lIns="0" tIns="0" rIns="0" bIns="0" rtlCol="0" anchor="ctr"/>
          <a:lstStyle/>
          <a:p>
            <a:pPr marL="0" indent="0">
              <a:lnSpc>
                <a:spcPct val="120000"/>
              </a:lnSpc>
              <a:buNone/>
            </a:pPr>
            <a:r>
              <a:rPr lang="en-US" sz="1050" dirty="0">
                <a:solidFill>
                  <a:srgbClr val="AEBBD1"/>
                </a:solidFill>
                <a:latin typeface="Calibri" pitchFamily="34" charset="0"/>
                <a:ea typeface="Calibri" pitchFamily="34" charset="-122"/>
                <a:cs typeface="Calibri" pitchFamily="34" charset="-120"/>
              </a:rPr>
              <a:t>raw fields covering geography, utility, sizing, dates &amp; metering</a:t>
            </a:r>
            <a:endParaRPr lang="en-US" sz="1050" dirty="0"/>
          </a:p>
        </p:txBody>
      </p:sp>
      <p:sp>
        <p:nvSpPr>
          <p:cNvPr id="26" name="Text 24"/>
          <p:cNvSpPr/>
          <p:nvPr/>
        </p:nvSpPr>
        <p:spPr>
          <a:xfrm>
            <a:off x="7086600" y="4224528"/>
            <a:ext cx="1737360" cy="50292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1</a:t>
            </a:r>
            <a:endParaRPr lang="en-US" sz="2500" dirty="0"/>
          </a:p>
        </p:txBody>
      </p:sp>
      <p:sp>
        <p:nvSpPr>
          <p:cNvPr id="27" name="Text 25"/>
          <p:cNvSpPr/>
          <p:nvPr/>
        </p:nvSpPr>
        <p:spPr>
          <a:xfrm>
            <a:off x="7086600" y="4727448"/>
            <a:ext cx="4206240" cy="502920"/>
          </a:xfrm>
          <a:prstGeom prst="rect">
            <a:avLst/>
          </a:prstGeom>
          <a:noFill/>
          <a:ln/>
        </p:spPr>
        <p:txBody>
          <a:bodyPr wrap="square" lIns="0" tIns="0" rIns="0" bIns="0" rtlCol="0" anchor="ctr"/>
          <a:lstStyle/>
          <a:p>
            <a:pPr marL="0" indent="0">
              <a:lnSpc>
                <a:spcPct val="120000"/>
              </a:lnSpc>
              <a:buNone/>
            </a:pPr>
            <a:r>
              <a:rPr lang="en-US" sz="1050" dirty="0">
                <a:solidFill>
                  <a:srgbClr val="AEBBD1"/>
                </a:solidFill>
                <a:latin typeface="Calibri" pitchFamily="34" charset="0"/>
                <a:ea typeface="Calibri" pitchFamily="34" charset="-122"/>
                <a:cs typeface="Calibri" pitchFamily="34" charset="-120"/>
              </a:rPr>
              <a:t>target variable — Estimated Annual PV Energy Production (kWh)</a:t>
            </a:r>
            <a:endParaRPr lang="en-US" sz="1050" dirty="0"/>
          </a:p>
        </p:txBody>
      </p:sp>
      <p:sp>
        <p:nvSpPr>
          <p:cNvPr id="28" name="Text 26"/>
          <p:cNvSpPr/>
          <p:nvPr/>
        </p:nvSpPr>
        <p:spPr>
          <a:xfrm>
            <a:off x="7086600" y="5285232"/>
            <a:ext cx="1737360" cy="50292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7</a:t>
            </a:r>
            <a:endParaRPr lang="en-US" sz="2500" dirty="0"/>
          </a:p>
        </p:txBody>
      </p:sp>
      <p:sp>
        <p:nvSpPr>
          <p:cNvPr id="29" name="Text 27"/>
          <p:cNvSpPr/>
          <p:nvPr/>
        </p:nvSpPr>
        <p:spPr>
          <a:xfrm>
            <a:off x="7086600" y="5788152"/>
            <a:ext cx="4206240" cy="502920"/>
          </a:xfrm>
          <a:prstGeom prst="rect">
            <a:avLst/>
          </a:prstGeom>
          <a:noFill/>
          <a:ln/>
        </p:spPr>
        <p:txBody>
          <a:bodyPr wrap="square" lIns="0" tIns="0" rIns="0" bIns="0" rtlCol="0" anchor="ctr"/>
          <a:lstStyle/>
          <a:p>
            <a:pPr marL="0" indent="0">
              <a:lnSpc>
                <a:spcPct val="120000"/>
              </a:lnSpc>
              <a:buNone/>
            </a:pPr>
            <a:r>
              <a:rPr lang="en-US" sz="1050" dirty="0">
                <a:solidFill>
                  <a:srgbClr val="AEBBD1"/>
                </a:solidFill>
                <a:latin typeface="Calibri" pitchFamily="34" charset="0"/>
                <a:ea typeface="Calibri" pitchFamily="34" charset="-122"/>
                <a:cs typeface="Calibri" pitchFamily="34" charset="-120"/>
              </a:rPr>
              <a:t>electric utilities represented in the service territory</a:t>
            </a:r>
            <a:endParaRPr lang="en-US" sz="1050" dirty="0"/>
          </a:p>
        </p:txBody>
      </p:sp>
      <p:sp>
        <p:nvSpPr>
          <p:cNvPr id="30" name="Text 28"/>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02</a:t>
            </a:r>
            <a:endParaRPr lang="en-US" sz="1000" dirty="0"/>
          </a:p>
        </p:txBody>
      </p:sp>
      <p:sp>
        <p:nvSpPr>
          <p:cNvPr id="31" name="Text 29"/>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1–3 · DATA LOADING &amp; INSPECTION</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Dataset at a glance</a:t>
            </a:r>
            <a:endParaRPr lang="en-US" sz="2900" dirty="0"/>
          </a:p>
        </p:txBody>
      </p:sp>
      <p:sp>
        <p:nvSpPr>
          <p:cNvPr id="4" name="Shape 2"/>
          <p:cNvSpPr/>
          <p:nvPr/>
        </p:nvSpPr>
        <p:spPr>
          <a:xfrm>
            <a:off x="548640" y="1371600"/>
            <a:ext cx="2606040" cy="1600200"/>
          </a:xfrm>
          <a:prstGeom prst="roundRect">
            <a:avLst>
              <a:gd name="adj" fmla="val 5143"/>
            </a:avLst>
          </a:prstGeom>
          <a:solidFill>
            <a:srgbClr val="F5F6F8"/>
          </a:solidFill>
          <a:ln/>
        </p:spPr>
      </p:sp>
      <p:sp>
        <p:nvSpPr>
          <p:cNvPr id="5" name="Shape 3"/>
          <p:cNvSpPr/>
          <p:nvPr/>
        </p:nvSpPr>
        <p:spPr>
          <a:xfrm>
            <a:off x="548640" y="1371600"/>
            <a:ext cx="54864" cy="1600200"/>
          </a:xfrm>
          <a:prstGeom prst="rect">
            <a:avLst/>
          </a:prstGeom>
          <a:solidFill>
            <a:srgbClr val="F2A93B"/>
          </a:solidFill>
          <a:ln/>
        </p:spPr>
      </p:sp>
      <p:sp>
        <p:nvSpPr>
          <p:cNvPr id="6" name="Text 4"/>
          <p:cNvSpPr/>
          <p:nvPr/>
        </p:nvSpPr>
        <p:spPr>
          <a:xfrm>
            <a:off x="804672" y="1508760"/>
            <a:ext cx="2194560" cy="658368"/>
          </a:xfrm>
          <a:prstGeom prst="rect">
            <a:avLst/>
          </a:prstGeom>
          <a:noFill/>
          <a:ln/>
        </p:spPr>
        <p:txBody>
          <a:bodyPr wrap="square" lIns="0" tIns="0" rIns="0" bIns="0" rtlCol="0" anchor="ctr"/>
          <a:lstStyle/>
          <a:p>
            <a:pPr marL="0" indent="0" algn="l">
              <a:buNone/>
            </a:pPr>
            <a:r>
              <a:rPr lang="en-US" sz="3400" b="1" dirty="0">
                <a:solidFill>
                  <a:srgbClr val="12233F"/>
                </a:solidFill>
                <a:latin typeface="Cambria" pitchFamily="34" charset="0"/>
                <a:ea typeface="Cambria" pitchFamily="34" charset="-122"/>
                <a:cs typeface="Cambria" pitchFamily="34" charset="-120"/>
              </a:rPr>
              <a:t>218,115</a:t>
            </a:r>
            <a:endParaRPr lang="en-US" sz="3400" dirty="0"/>
          </a:p>
        </p:txBody>
      </p:sp>
      <p:sp>
        <p:nvSpPr>
          <p:cNvPr id="7" name="Text 5"/>
          <p:cNvSpPr/>
          <p:nvPr/>
        </p:nvSpPr>
        <p:spPr>
          <a:xfrm>
            <a:off x="804672" y="2167128"/>
            <a:ext cx="2194560" cy="594360"/>
          </a:xfrm>
          <a:prstGeom prst="rect">
            <a:avLst/>
          </a:prstGeom>
          <a:noFill/>
          <a:ln/>
        </p:spPr>
        <p:txBody>
          <a:bodyPr wrap="square" lIns="0" tIns="0" rIns="0" bIns="0" rtlCol="0" anchor="ctr"/>
          <a:lstStyle/>
          <a:p>
            <a:pPr marL="0" indent="0" algn="l">
              <a:lnSpc>
                <a:spcPct val="115000"/>
              </a:lnSpc>
              <a:buNone/>
            </a:pPr>
            <a:r>
              <a:rPr lang="en-US" sz="1150" dirty="0">
                <a:solidFill>
                  <a:srgbClr val="6B7686"/>
                </a:solidFill>
                <a:latin typeface="Calibri" pitchFamily="34" charset="0"/>
                <a:ea typeface="Calibri" pitchFamily="34" charset="-122"/>
                <a:cs typeface="Calibri" pitchFamily="34" charset="-120"/>
              </a:rPr>
              <a:t>Total project records loaded</a:t>
            </a:r>
            <a:endParaRPr lang="en-US" sz="1150" dirty="0"/>
          </a:p>
        </p:txBody>
      </p:sp>
      <p:sp>
        <p:nvSpPr>
          <p:cNvPr id="8" name="Shape 6"/>
          <p:cNvSpPr/>
          <p:nvPr/>
        </p:nvSpPr>
        <p:spPr>
          <a:xfrm>
            <a:off x="3364992" y="1371600"/>
            <a:ext cx="2606040" cy="1600200"/>
          </a:xfrm>
          <a:prstGeom prst="roundRect">
            <a:avLst>
              <a:gd name="adj" fmla="val 5143"/>
            </a:avLst>
          </a:prstGeom>
          <a:solidFill>
            <a:srgbClr val="F5F6F8"/>
          </a:solidFill>
          <a:ln/>
        </p:spPr>
      </p:sp>
      <p:sp>
        <p:nvSpPr>
          <p:cNvPr id="9" name="Shape 7"/>
          <p:cNvSpPr/>
          <p:nvPr/>
        </p:nvSpPr>
        <p:spPr>
          <a:xfrm>
            <a:off x="3364992" y="1371600"/>
            <a:ext cx="54864" cy="1600200"/>
          </a:xfrm>
          <a:prstGeom prst="rect">
            <a:avLst/>
          </a:prstGeom>
          <a:solidFill>
            <a:srgbClr val="F2A93B"/>
          </a:solidFill>
          <a:ln/>
        </p:spPr>
      </p:sp>
      <p:sp>
        <p:nvSpPr>
          <p:cNvPr id="10" name="Text 8"/>
          <p:cNvSpPr/>
          <p:nvPr/>
        </p:nvSpPr>
        <p:spPr>
          <a:xfrm>
            <a:off x="3621024" y="1508760"/>
            <a:ext cx="2194560" cy="658368"/>
          </a:xfrm>
          <a:prstGeom prst="rect">
            <a:avLst/>
          </a:prstGeom>
          <a:noFill/>
          <a:ln/>
        </p:spPr>
        <p:txBody>
          <a:bodyPr wrap="square" lIns="0" tIns="0" rIns="0" bIns="0" rtlCol="0" anchor="ctr"/>
          <a:lstStyle/>
          <a:p>
            <a:pPr marL="0" indent="0" algn="l">
              <a:buNone/>
            </a:pPr>
            <a:r>
              <a:rPr lang="en-US" sz="3400" b="1" dirty="0">
                <a:solidFill>
                  <a:srgbClr val="12233F"/>
                </a:solidFill>
                <a:latin typeface="Cambria" pitchFamily="34" charset="0"/>
                <a:ea typeface="Cambria" pitchFamily="34" charset="-122"/>
                <a:cs typeface="Cambria" pitchFamily="34" charset="-120"/>
              </a:rPr>
              <a:t>17</a:t>
            </a:r>
            <a:endParaRPr lang="en-US" sz="3400" dirty="0"/>
          </a:p>
        </p:txBody>
      </p:sp>
      <p:sp>
        <p:nvSpPr>
          <p:cNvPr id="11" name="Text 9"/>
          <p:cNvSpPr/>
          <p:nvPr/>
        </p:nvSpPr>
        <p:spPr>
          <a:xfrm>
            <a:off x="3621024" y="2167128"/>
            <a:ext cx="2194560" cy="594360"/>
          </a:xfrm>
          <a:prstGeom prst="rect">
            <a:avLst/>
          </a:prstGeom>
          <a:noFill/>
          <a:ln/>
        </p:spPr>
        <p:txBody>
          <a:bodyPr wrap="square" lIns="0" tIns="0" rIns="0" bIns="0" rtlCol="0" anchor="ctr"/>
          <a:lstStyle/>
          <a:p>
            <a:pPr marL="0" indent="0" algn="l">
              <a:lnSpc>
                <a:spcPct val="115000"/>
              </a:lnSpc>
              <a:buNone/>
            </a:pPr>
            <a:r>
              <a:rPr lang="en-US" sz="1150" dirty="0">
                <a:solidFill>
                  <a:srgbClr val="6B7686"/>
                </a:solidFill>
                <a:latin typeface="Calibri" pitchFamily="34" charset="0"/>
                <a:ea typeface="Calibri" pitchFamily="34" charset="-122"/>
                <a:cs typeface="Calibri" pitchFamily="34" charset="-120"/>
              </a:rPr>
              <a:t>Original raw columns</a:t>
            </a:r>
            <a:endParaRPr lang="en-US" sz="1150" dirty="0"/>
          </a:p>
        </p:txBody>
      </p:sp>
      <p:sp>
        <p:nvSpPr>
          <p:cNvPr id="12" name="Shape 10"/>
          <p:cNvSpPr/>
          <p:nvPr/>
        </p:nvSpPr>
        <p:spPr>
          <a:xfrm>
            <a:off x="6181344" y="1371600"/>
            <a:ext cx="2606040" cy="1600200"/>
          </a:xfrm>
          <a:prstGeom prst="roundRect">
            <a:avLst>
              <a:gd name="adj" fmla="val 5143"/>
            </a:avLst>
          </a:prstGeom>
          <a:solidFill>
            <a:srgbClr val="F5F6F8"/>
          </a:solidFill>
          <a:ln/>
        </p:spPr>
      </p:sp>
      <p:sp>
        <p:nvSpPr>
          <p:cNvPr id="13" name="Shape 11"/>
          <p:cNvSpPr/>
          <p:nvPr/>
        </p:nvSpPr>
        <p:spPr>
          <a:xfrm>
            <a:off x="6181344" y="1371600"/>
            <a:ext cx="54864" cy="1600200"/>
          </a:xfrm>
          <a:prstGeom prst="rect">
            <a:avLst/>
          </a:prstGeom>
          <a:solidFill>
            <a:srgbClr val="E8580C"/>
          </a:solidFill>
          <a:ln/>
        </p:spPr>
      </p:sp>
      <p:sp>
        <p:nvSpPr>
          <p:cNvPr id="14" name="Text 12"/>
          <p:cNvSpPr/>
          <p:nvPr/>
        </p:nvSpPr>
        <p:spPr>
          <a:xfrm>
            <a:off x="6437376" y="1508760"/>
            <a:ext cx="2194560" cy="658368"/>
          </a:xfrm>
          <a:prstGeom prst="rect">
            <a:avLst/>
          </a:prstGeom>
          <a:noFill/>
          <a:ln/>
        </p:spPr>
        <p:txBody>
          <a:bodyPr wrap="square" lIns="0" tIns="0" rIns="0" bIns="0" rtlCol="0" anchor="ctr"/>
          <a:lstStyle/>
          <a:p>
            <a:pPr marL="0" indent="0" algn="l">
              <a:buNone/>
            </a:pPr>
            <a:r>
              <a:rPr lang="en-US" sz="3400" b="1" dirty="0">
                <a:solidFill>
                  <a:srgbClr val="12233F"/>
                </a:solidFill>
                <a:latin typeface="Cambria" pitchFamily="34" charset="0"/>
                <a:ea typeface="Cambria" pitchFamily="34" charset="-122"/>
                <a:cs typeface="Cambria" pitchFamily="34" charset="-120"/>
              </a:rPr>
              <a:t>28,768 kWh</a:t>
            </a:r>
            <a:endParaRPr lang="en-US" sz="3400" dirty="0"/>
          </a:p>
        </p:txBody>
      </p:sp>
      <p:sp>
        <p:nvSpPr>
          <p:cNvPr id="15" name="Text 13"/>
          <p:cNvSpPr/>
          <p:nvPr/>
        </p:nvSpPr>
        <p:spPr>
          <a:xfrm>
            <a:off x="6437376" y="2167128"/>
            <a:ext cx="2194560" cy="594360"/>
          </a:xfrm>
          <a:prstGeom prst="rect">
            <a:avLst/>
          </a:prstGeom>
          <a:noFill/>
          <a:ln/>
        </p:spPr>
        <p:txBody>
          <a:bodyPr wrap="square" lIns="0" tIns="0" rIns="0" bIns="0" rtlCol="0" anchor="ctr"/>
          <a:lstStyle/>
          <a:p>
            <a:pPr marL="0" indent="0" algn="l">
              <a:lnSpc>
                <a:spcPct val="115000"/>
              </a:lnSpc>
              <a:buNone/>
            </a:pPr>
            <a:r>
              <a:rPr lang="en-US" sz="1150" dirty="0">
                <a:solidFill>
                  <a:srgbClr val="6B7686"/>
                </a:solidFill>
                <a:latin typeface="Calibri" pitchFamily="34" charset="0"/>
                <a:ea typeface="Calibri" pitchFamily="34" charset="-122"/>
                <a:cs typeface="Calibri" pitchFamily="34" charset="-120"/>
              </a:rPr>
              <a:t>Mean estimated annual energy</a:t>
            </a:r>
            <a:endParaRPr lang="en-US" sz="1150" dirty="0"/>
          </a:p>
        </p:txBody>
      </p:sp>
      <p:sp>
        <p:nvSpPr>
          <p:cNvPr id="16" name="Shape 14"/>
          <p:cNvSpPr/>
          <p:nvPr/>
        </p:nvSpPr>
        <p:spPr>
          <a:xfrm>
            <a:off x="8997696" y="1371600"/>
            <a:ext cx="2606040" cy="1600200"/>
          </a:xfrm>
          <a:prstGeom prst="roundRect">
            <a:avLst>
              <a:gd name="adj" fmla="val 5143"/>
            </a:avLst>
          </a:prstGeom>
          <a:solidFill>
            <a:srgbClr val="F5F6F8"/>
          </a:solidFill>
          <a:ln/>
        </p:spPr>
      </p:sp>
      <p:sp>
        <p:nvSpPr>
          <p:cNvPr id="17" name="Shape 15"/>
          <p:cNvSpPr/>
          <p:nvPr/>
        </p:nvSpPr>
        <p:spPr>
          <a:xfrm>
            <a:off x="8997696" y="1371600"/>
            <a:ext cx="54864" cy="1600200"/>
          </a:xfrm>
          <a:prstGeom prst="rect">
            <a:avLst/>
          </a:prstGeom>
          <a:solidFill>
            <a:srgbClr val="F2A93B"/>
          </a:solidFill>
          <a:ln/>
        </p:spPr>
      </p:sp>
      <p:sp>
        <p:nvSpPr>
          <p:cNvPr id="18" name="Text 16"/>
          <p:cNvSpPr/>
          <p:nvPr/>
        </p:nvSpPr>
        <p:spPr>
          <a:xfrm>
            <a:off x="9253728" y="1508760"/>
            <a:ext cx="2194560" cy="658368"/>
          </a:xfrm>
          <a:prstGeom prst="rect">
            <a:avLst/>
          </a:prstGeom>
          <a:noFill/>
          <a:ln/>
        </p:spPr>
        <p:txBody>
          <a:bodyPr wrap="square" lIns="0" tIns="0" rIns="0" bIns="0" rtlCol="0" anchor="ctr"/>
          <a:lstStyle/>
          <a:p>
            <a:pPr marL="0" indent="0" algn="l">
              <a:buNone/>
            </a:pPr>
            <a:r>
              <a:rPr lang="en-US" sz="3400" b="1" dirty="0">
                <a:solidFill>
                  <a:srgbClr val="12233F"/>
                </a:solidFill>
                <a:latin typeface="Cambria" pitchFamily="34" charset="0"/>
                <a:ea typeface="Cambria" pitchFamily="34" charset="-122"/>
                <a:cs typeface="Cambria" pitchFamily="34" charset="-120"/>
              </a:rPr>
              <a:t>24.5 kW</a:t>
            </a:r>
            <a:endParaRPr lang="en-US" sz="3400" dirty="0"/>
          </a:p>
        </p:txBody>
      </p:sp>
      <p:sp>
        <p:nvSpPr>
          <p:cNvPr id="19" name="Text 17"/>
          <p:cNvSpPr/>
          <p:nvPr/>
        </p:nvSpPr>
        <p:spPr>
          <a:xfrm>
            <a:off x="9253728" y="2167128"/>
            <a:ext cx="2194560" cy="594360"/>
          </a:xfrm>
          <a:prstGeom prst="rect">
            <a:avLst/>
          </a:prstGeom>
          <a:noFill/>
          <a:ln/>
        </p:spPr>
        <p:txBody>
          <a:bodyPr wrap="square" lIns="0" tIns="0" rIns="0" bIns="0" rtlCol="0" anchor="ctr"/>
          <a:lstStyle/>
          <a:p>
            <a:pPr marL="0" indent="0" algn="l">
              <a:lnSpc>
                <a:spcPct val="115000"/>
              </a:lnSpc>
              <a:buNone/>
            </a:pPr>
            <a:r>
              <a:rPr lang="en-US" sz="1150" dirty="0">
                <a:solidFill>
                  <a:srgbClr val="6B7686"/>
                </a:solidFill>
                <a:latin typeface="Calibri" pitchFamily="34" charset="0"/>
                <a:ea typeface="Calibri" pitchFamily="34" charset="-122"/>
                <a:cs typeface="Calibri" pitchFamily="34" charset="-120"/>
              </a:rPr>
              <a:t>Mean estimated PV size (kWdc)</a:t>
            </a:r>
            <a:endParaRPr lang="en-US" sz="1150" dirty="0"/>
          </a:p>
        </p:txBody>
      </p:sp>
      <p:sp>
        <p:nvSpPr>
          <p:cNvPr id="20" name="Text 18"/>
          <p:cNvSpPr/>
          <p:nvPr/>
        </p:nvSpPr>
        <p:spPr>
          <a:xfrm>
            <a:off x="548640" y="3291840"/>
            <a:ext cx="5486400" cy="274320"/>
          </a:xfrm>
          <a:prstGeom prst="rect">
            <a:avLst/>
          </a:prstGeom>
          <a:noFill/>
          <a:ln/>
        </p:spPr>
        <p:txBody>
          <a:bodyPr wrap="square" lIns="0" tIns="0" rIns="0" bIns="0" rtlCol="0" anchor="ctr"/>
          <a:lstStyle/>
          <a:p>
            <a:pPr marL="0" indent="0">
              <a:buNone/>
            </a:pPr>
            <a:r>
              <a:rPr lang="en-US" sz="1200" b="1" kern="0" spc="150" dirty="0">
                <a:solidFill>
                  <a:srgbClr val="12233F"/>
                </a:solidFill>
                <a:latin typeface="Calibri" pitchFamily="34" charset="0"/>
                <a:ea typeface="Calibri" pitchFamily="34" charset="-122"/>
                <a:cs typeface="Calibri" pitchFamily="34" charset="-120"/>
              </a:rPr>
              <a:t>COLUMN GROUPS</a:t>
            </a:r>
            <a:endParaRPr lang="en-US" sz="1200" dirty="0"/>
          </a:p>
        </p:txBody>
      </p:sp>
      <p:sp>
        <p:nvSpPr>
          <p:cNvPr id="21" name="Shape 19"/>
          <p:cNvSpPr/>
          <p:nvPr/>
        </p:nvSpPr>
        <p:spPr>
          <a:xfrm>
            <a:off x="548640" y="3657600"/>
            <a:ext cx="11064240" cy="868680"/>
          </a:xfrm>
          <a:prstGeom prst="roundRect">
            <a:avLst>
              <a:gd name="adj" fmla="val 8421"/>
            </a:avLst>
          </a:prstGeom>
          <a:solidFill>
            <a:srgbClr val="F5F6F8"/>
          </a:solidFill>
          <a:ln/>
        </p:spPr>
      </p:sp>
      <p:sp>
        <p:nvSpPr>
          <p:cNvPr id="22" name="Text 20"/>
          <p:cNvSpPr/>
          <p:nvPr/>
        </p:nvSpPr>
        <p:spPr>
          <a:xfrm>
            <a:off x="777240" y="3749040"/>
            <a:ext cx="2743200" cy="68580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Numerical (9)</a:t>
            </a:r>
            <a:endParaRPr lang="en-US" sz="1300" dirty="0"/>
          </a:p>
        </p:txBody>
      </p:sp>
      <p:sp>
        <p:nvSpPr>
          <p:cNvPr id="23" name="Text 21"/>
          <p:cNvSpPr/>
          <p:nvPr/>
        </p:nvSpPr>
        <p:spPr>
          <a:xfrm>
            <a:off x="3566160" y="3749040"/>
            <a:ext cx="7772400" cy="685800"/>
          </a:xfrm>
          <a:prstGeom prst="rect">
            <a:avLst/>
          </a:prstGeom>
          <a:noFill/>
          <a:ln/>
        </p:spPr>
        <p:txBody>
          <a:bodyPr wrap="square" lIns="0" tIns="0" rIns="0" bIns="0" rtlCol="0" anchor="ctr"/>
          <a:lstStyle/>
          <a:p>
            <a:pPr marL="0" indent="0">
              <a:lnSpc>
                <a:spcPct val="120000"/>
              </a:lnSpc>
              <a:buNone/>
            </a:pPr>
            <a:r>
              <a:rPr lang="en-US" sz="1100" dirty="0">
                <a:solidFill>
                  <a:srgbClr val="6B7686"/>
                </a:solidFill>
                <a:latin typeface="Calibri" pitchFamily="34" charset="0"/>
                <a:ea typeface="Calibri" pitchFamily="34" charset="-122"/>
                <a:cs typeface="Calibri" pitchFamily="34" charset="-120"/>
              </a:rPr>
              <a:t>Zip · PV_kWdc · PV_kWac · Storage_kWac · Projects · Connection_Year / Month / Day · Data_Year</a:t>
            </a:r>
            <a:endParaRPr lang="en-US" sz="1100" dirty="0"/>
          </a:p>
        </p:txBody>
      </p:sp>
      <p:sp>
        <p:nvSpPr>
          <p:cNvPr id="24" name="Shape 22"/>
          <p:cNvSpPr/>
          <p:nvPr/>
        </p:nvSpPr>
        <p:spPr>
          <a:xfrm>
            <a:off x="548640" y="4663440"/>
            <a:ext cx="11064240" cy="868680"/>
          </a:xfrm>
          <a:prstGeom prst="roundRect">
            <a:avLst>
              <a:gd name="adj" fmla="val 8421"/>
            </a:avLst>
          </a:prstGeom>
          <a:solidFill>
            <a:srgbClr val="F5F6F8"/>
          </a:solidFill>
          <a:ln/>
        </p:spPr>
      </p:sp>
      <p:sp>
        <p:nvSpPr>
          <p:cNvPr id="25" name="Text 23"/>
          <p:cNvSpPr/>
          <p:nvPr/>
        </p:nvSpPr>
        <p:spPr>
          <a:xfrm>
            <a:off x="777240" y="4754880"/>
            <a:ext cx="2743200" cy="68580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Categorical (10)</a:t>
            </a:r>
            <a:endParaRPr lang="en-US" sz="1300" dirty="0"/>
          </a:p>
        </p:txBody>
      </p:sp>
      <p:sp>
        <p:nvSpPr>
          <p:cNvPr id="26" name="Text 24"/>
          <p:cNvSpPr/>
          <p:nvPr/>
        </p:nvSpPr>
        <p:spPr>
          <a:xfrm>
            <a:off x="3566160" y="4754880"/>
            <a:ext cx="7772400" cy="685800"/>
          </a:xfrm>
          <a:prstGeom prst="rect">
            <a:avLst/>
          </a:prstGeom>
          <a:noFill/>
          <a:ln/>
        </p:spPr>
        <p:txBody>
          <a:bodyPr wrap="square" lIns="0" tIns="0" rIns="0" bIns="0" rtlCol="0" anchor="ctr"/>
          <a:lstStyle/>
          <a:p>
            <a:pPr marL="0" indent="0">
              <a:lnSpc>
                <a:spcPct val="120000"/>
              </a:lnSpc>
              <a:buNone/>
            </a:pPr>
            <a:r>
              <a:rPr lang="en-US" sz="1100" dirty="0">
                <a:solidFill>
                  <a:srgbClr val="6B7686"/>
                </a:solidFill>
                <a:latin typeface="Calibri" pitchFamily="34" charset="0"/>
                <a:ea typeface="Calibri" pitchFamily="34" charset="-122"/>
                <a:cs typeface="Calibri" pitchFamily="34" charset="-120"/>
              </a:rPr>
              <a:t>Utility · City · County · Division · Substation · Circuit_ID · Developer · Metering Method · dates</a:t>
            </a:r>
            <a:endParaRPr lang="en-US" sz="1100" dirty="0"/>
          </a:p>
        </p:txBody>
      </p:sp>
      <p:sp>
        <p:nvSpPr>
          <p:cNvPr id="27" name="Text 25"/>
          <p:cNvSpPr/>
          <p:nvPr/>
        </p:nvSpPr>
        <p:spPr>
          <a:xfrm>
            <a:off x="548640" y="5715000"/>
            <a:ext cx="9144000" cy="320040"/>
          </a:xfrm>
          <a:prstGeom prst="rect">
            <a:avLst/>
          </a:prstGeom>
          <a:noFill/>
          <a:ln/>
        </p:spPr>
        <p:txBody>
          <a:bodyPr wrap="square" lIns="0" tIns="0" rIns="0" bIns="0" rtlCol="0" anchor="ctr"/>
          <a:lstStyle/>
          <a:p>
            <a:pPr marL="0" indent="0">
              <a:buNone/>
            </a:pPr>
            <a:r>
              <a:rPr lang="en-US" sz="1150" i="1" dirty="0">
                <a:solidFill>
                  <a:srgbClr val="E8580C"/>
                </a:solidFill>
                <a:latin typeface="Calibri" pitchFamily="34" charset="0"/>
                <a:ea typeface="Calibri" pitchFamily="34" charset="-122"/>
                <a:cs typeface="Calibri" pitchFamily="34" charset="-120"/>
              </a:rPr>
              <a:t>Target variable: Annual_Energy  (Estimated Annual PV Energy Production, kWh)</a:t>
            </a:r>
            <a:endParaRPr lang="en-US" sz="1150" dirty="0"/>
          </a:p>
        </p:txBody>
      </p:sp>
      <p:sp>
        <p:nvSpPr>
          <p:cNvPr id="28" name="Text 26"/>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03</a:t>
            </a:r>
            <a:endParaRPr lang="en-US" sz="1000" dirty="0"/>
          </a:p>
        </p:txBody>
      </p:sp>
      <p:sp>
        <p:nvSpPr>
          <p:cNvPr id="29" name="Text 27"/>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3–6 · CLEANING &amp; DATA QUALITY</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Missingness drives key cleaning decisions</a:t>
            </a:r>
            <a:endParaRPr lang="en-US" sz="2900" dirty="0"/>
          </a:p>
        </p:txBody>
      </p:sp>
      <p:sp>
        <p:nvSpPr>
          <p:cNvPr id="4" name="Text 2"/>
          <p:cNvSpPr/>
          <p:nvPr/>
        </p:nvSpPr>
        <p:spPr>
          <a:xfrm>
            <a:off x="548640" y="1280160"/>
            <a:ext cx="5120640" cy="1188720"/>
          </a:xfrm>
          <a:prstGeom prst="rect">
            <a:avLst/>
          </a:prstGeom>
          <a:noFill/>
          <a:ln/>
        </p:spPr>
        <p:txBody>
          <a:bodyPr wrap="square" lIns="0" tIns="0" rIns="0" bIns="0" rtlCol="0" anchor="ctr"/>
          <a:lstStyle/>
          <a:p>
            <a:pPr marL="0" indent="0">
              <a:lnSpc>
                <a:spcPct val="130000"/>
              </a:lnSpc>
              <a:buNone/>
            </a:pPr>
            <a:r>
              <a:rPr lang="en-US" sz="1300" dirty="0">
                <a:solidFill>
                  <a:srgbClr val="1B2430"/>
                </a:solidFill>
                <a:latin typeface="Calibri" pitchFamily="34" charset="0"/>
                <a:ea typeface="Calibri" pitchFamily="34" charset="-122"/>
                <a:cs typeface="Calibri" pitchFamily="34" charset="-120"/>
              </a:rPr>
              <a:t>A missing-values heatmap and null-count audit across all 218,115 records exposed three fields with structurally high missingness — informing which columns to keep, impute, or engineer around.</a:t>
            </a:r>
            <a:endParaRPr lang="en-US" sz="1300" dirty="0"/>
          </a:p>
        </p:txBody>
      </p:sp>
      <p:sp>
        <p:nvSpPr>
          <p:cNvPr id="5" name="Shape 3"/>
          <p:cNvSpPr/>
          <p:nvPr/>
        </p:nvSpPr>
        <p:spPr>
          <a:xfrm>
            <a:off x="548640" y="2697480"/>
            <a:ext cx="109728" cy="109728"/>
          </a:xfrm>
          <a:prstGeom prst="ellipse">
            <a:avLst/>
          </a:prstGeom>
          <a:solidFill>
            <a:srgbClr val="E8580C"/>
          </a:solidFill>
          <a:ln/>
        </p:spPr>
      </p:sp>
      <p:sp>
        <p:nvSpPr>
          <p:cNvPr id="6" name="Text 4"/>
          <p:cNvSpPr/>
          <p:nvPr/>
        </p:nvSpPr>
        <p:spPr>
          <a:xfrm>
            <a:off x="777240" y="257860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Storage_kWac → 98.1% missing</a:t>
            </a:r>
            <a:endParaRPr lang="en-US" sz="1200" dirty="0"/>
          </a:p>
        </p:txBody>
      </p:sp>
      <p:sp>
        <p:nvSpPr>
          <p:cNvPr id="7" name="Text 5"/>
          <p:cNvSpPr/>
          <p:nvPr/>
        </p:nvSpPr>
        <p:spPr>
          <a:xfrm>
            <a:off x="777240" y="2834640"/>
            <a:ext cx="4937760" cy="36576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Most projects have no co-located battery storage — expected, not an error.</a:t>
            </a:r>
            <a:endParaRPr lang="en-US" sz="1050" dirty="0"/>
          </a:p>
        </p:txBody>
      </p:sp>
      <p:sp>
        <p:nvSpPr>
          <p:cNvPr id="8" name="Shape 6"/>
          <p:cNvSpPr/>
          <p:nvPr/>
        </p:nvSpPr>
        <p:spPr>
          <a:xfrm>
            <a:off x="548640" y="3474720"/>
            <a:ext cx="109728" cy="109728"/>
          </a:xfrm>
          <a:prstGeom prst="ellipse">
            <a:avLst/>
          </a:prstGeom>
          <a:solidFill>
            <a:srgbClr val="E8580C"/>
          </a:solidFill>
          <a:ln/>
        </p:spPr>
      </p:sp>
      <p:sp>
        <p:nvSpPr>
          <p:cNvPr id="9" name="Text 7"/>
          <p:cNvSpPr/>
          <p:nvPr/>
        </p:nvSpPr>
        <p:spPr>
          <a:xfrm>
            <a:off x="777240" y="335584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Division → 39.1% missing</a:t>
            </a:r>
            <a:endParaRPr lang="en-US" sz="1200" dirty="0"/>
          </a:p>
        </p:txBody>
      </p:sp>
      <p:sp>
        <p:nvSpPr>
          <p:cNvPr id="10" name="Text 8"/>
          <p:cNvSpPr/>
          <p:nvPr/>
        </p:nvSpPr>
        <p:spPr>
          <a:xfrm>
            <a:off x="777240" y="3611880"/>
            <a:ext cx="4937760" cy="36576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Utility sub-division not logged for every project.</a:t>
            </a:r>
            <a:endParaRPr lang="en-US" sz="1050" dirty="0"/>
          </a:p>
        </p:txBody>
      </p:sp>
      <p:sp>
        <p:nvSpPr>
          <p:cNvPr id="11" name="Shape 9"/>
          <p:cNvSpPr/>
          <p:nvPr/>
        </p:nvSpPr>
        <p:spPr>
          <a:xfrm>
            <a:off x="548640" y="4251960"/>
            <a:ext cx="109728" cy="109728"/>
          </a:xfrm>
          <a:prstGeom prst="ellipse">
            <a:avLst/>
          </a:prstGeom>
          <a:solidFill>
            <a:srgbClr val="E8580C"/>
          </a:solidFill>
          <a:ln/>
        </p:spPr>
      </p:sp>
      <p:sp>
        <p:nvSpPr>
          <p:cNvPr id="12" name="Text 10"/>
          <p:cNvSpPr/>
          <p:nvPr/>
        </p:nvSpPr>
        <p:spPr>
          <a:xfrm>
            <a:off x="777240" y="413308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Substation → 36.7% missing</a:t>
            </a:r>
            <a:endParaRPr lang="en-US" sz="1200" dirty="0"/>
          </a:p>
        </p:txBody>
      </p:sp>
      <p:sp>
        <p:nvSpPr>
          <p:cNvPr id="13" name="Text 11"/>
          <p:cNvSpPr/>
          <p:nvPr/>
        </p:nvSpPr>
        <p:spPr>
          <a:xfrm>
            <a:off x="777240" y="4389120"/>
            <a:ext cx="4937760" cy="36576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Circuit-level metadata incomplete for older interconnections.</a:t>
            </a:r>
            <a:endParaRPr lang="en-US" sz="1050" dirty="0"/>
          </a:p>
        </p:txBody>
      </p:sp>
      <p:sp>
        <p:nvSpPr>
          <p:cNvPr id="14" name="Shape 12"/>
          <p:cNvSpPr/>
          <p:nvPr/>
        </p:nvSpPr>
        <p:spPr>
          <a:xfrm>
            <a:off x="548640" y="5029200"/>
            <a:ext cx="109728" cy="109728"/>
          </a:xfrm>
          <a:prstGeom prst="ellipse">
            <a:avLst/>
          </a:prstGeom>
          <a:solidFill>
            <a:srgbClr val="E8580C"/>
          </a:solidFill>
          <a:ln/>
        </p:spPr>
      </p:sp>
      <p:sp>
        <p:nvSpPr>
          <p:cNvPr id="15" name="Text 13"/>
          <p:cNvSpPr/>
          <p:nvPr/>
        </p:nvSpPr>
        <p:spPr>
          <a:xfrm>
            <a:off x="777240" y="491032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Core numerics &lt; 2% missing</a:t>
            </a:r>
            <a:endParaRPr lang="en-US" sz="1200" dirty="0"/>
          </a:p>
        </p:txBody>
      </p:sp>
      <p:sp>
        <p:nvSpPr>
          <p:cNvPr id="16" name="Text 14"/>
          <p:cNvSpPr/>
          <p:nvPr/>
        </p:nvSpPr>
        <p:spPr>
          <a:xfrm>
            <a:off x="777240" y="5166360"/>
            <a:ext cx="4937760" cy="36576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PV_kWdc, PV_kWac &amp; Annual_Energy — imputed via pipeline median.</a:t>
            </a:r>
            <a:endParaRPr lang="en-US" sz="1050" dirty="0"/>
          </a:p>
        </p:txBody>
      </p:sp>
      <p:graphicFrame>
        <p:nvGraphicFramePr>
          <p:cNvPr id="17" name="Chart 0"/>
          <p:cNvGraphicFramePr/>
          <p:nvPr/>
        </p:nvGraphicFramePr>
        <p:xfrm>
          <a:off x="5943600" y="1280160"/>
          <a:ext cx="56692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04</a:t>
            </a:r>
            <a:endParaRPr lang="en-US" sz="1000" dirty="0"/>
          </a:p>
        </p:txBody>
      </p:sp>
      <p:sp>
        <p:nvSpPr>
          <p:cNvPr id="19" name="Text 16"/>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4–9 · FEATURE ENGINEERING &amp; PREPROCESSING</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From raw fields to a model-ready pipeline</a:t>
            </a:r>
            <a:endParaRPr lang="en-US" sz="2900" dirty="0"/>
          </a:p>
        </p:txBody>
      </p:sp>
      <p:sp>
        <p:nvSpPr>
          <p:cNvPr id="4" name="Shape 2"/>
          <p:cNvSpPr/>
          <p:nvPr/>
        </p:nvSpPr>
        <p:spPr>
          <a:xfrm>
            <a:off x="548640" y="1417320"/>
            <a:ext cx="3611880" cy="1691640"/>
          </a:xfrm>
          <a:prstGeom prst="roundRect">
            <a:avLst>
              <a:gd name="adj" fmla="val 4324"/>
            </a:avLst>
          </a:prstGeom>
          <a:solidFill>
            <a:srgbClr val="F5F6F8"/>
          </a:solidFill>
          <a:ln/>
        </p:spPr>
      </p:sp>
      <p:sp>
        <p:nvSpPr>
          <p:cNvPr id="5" name="Shape 3"/>
          <p:cNvSpPr/>
          <p:nvPr/>
        </p:nvSpPr>
        <p:spPr>
          <a:xfrm>
            <a:off x="749808" y="1600200"/>
            <a:ext cx="457200" cy="457200"/>
          </a:xfrm>
          <a:prstGeom prst="ellipse">
            <a:avLst/>
          </a:prstGeom>
          <a:solidFill>
            <a:srgbClr val="12233F"/>
          </a:solidFill>
          <a:ln/>
        </p:spPr>
      </p:sp>
      <p:sp>
        <p:nvSpPr>
          <p:cNvPr id="6" name="Text 4"/>
          <p:cNvSpPr/>
          <p:nvPr/>
        </p:nvSpPr>
        <p:spPr>
          <a:xfrm>
            <a:off x="749808" y="1600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581912"/>
            <a:ext cx="260604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Rename &amp; Parse</a:t>
            </a:r>
            <a:endParaRPr lang="en-US" sz="1300" dirty="0"/>
          </a:p>
        </p:txBody>
      </p:sp>
      <p:sp>
        <p:nvSpPr>
          <p:cNvPr id="8" name="Text 6"/>
          <p:cNvSpPr/>
          <p:nvPr/>
        </p:nvSpPr>
        <p:spPr>
          <a:xfrm>
            <a:off x="804672" y="2130552"/>
            <a:ext cx="3108960" cy="86868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Columns standardized (Annual_Energy, PV_kWdc, PV_kWac …); dates parsed to datetime.</a:t>
            </a:r>
            <a:endParaRPr lang="en-US" sz="1050" dirty="0"/>
          </a:p>
        </p:txBody>
      </p:sp>
      <p:sp>
        <p:nvSpPr>
          <p:cNvPr id="9" name="Shape 7"/>
          <p:cNvSpPr/>
          <p:nvPr/>
        </p:nvSpPr>
        <p:spPr>
          <a:xfrm>
            <a:off x="4389120" y="1417320"/>
            <a:ext cx="3611880" cy="1691640"/>
          </a:xfrm>
          <a:prstGeom prst="roundRect">
            <a:avLst>
              <a:gd name="adj" fmla="val 4324"/>
            </a:avLst>
          </a:prstGeom>
          <a:solidFill>
            <a:srgbClr val="F5F6F8"/>
          </a:solidFill>
          <a:ln/>
        </p:spPr>
      </p:sp>
      <p:sp>
        <p:nvSpPr>
          <p:cNvPr id="10" name="Shape 8"/>
          <p:cNvSpPr/>
          <p:nvPr/>
        </p:nvSpPr>
        <p:spPr>
          <a:xfrm>
            <a:off x="4590288" y="1600200"/>
            <a:ext cx="457200" cy="457200"/>
          </a:xfrm>
          <a:prstGeom prst="ellipse">
            <a:avLst/>
          </a:prstGeom>
          <a:solidFill>
            <a:srgbClr val="12233F"/>
          </a:solidFill>
          <a:ln/>
        </p:spPr>
      </p:sp>
      <p:sp>
        <p:nvSpPr>
          <p:cNvPr id="11" name="Text 9"/>
          <p:cNvSpPr/>
          <p:nvPr/>
        </p:nvSpPr>
        <p:spPr>
          <a:xfrm>
            <a:off x="4590288" y="1600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5212080" y="1581912"/>
            <a:ext cx="260604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Engineer Dates</a:t>
            </a:r>
            <a:endParaRPr lang="en-US" sz="1300" dirty="0"/>
          </a:p>
        </p:txBody>
      </p:sp>
      <p:sp>
        <p:nvSpPr>
          <p:cNvPr id="13" name="Text 11"/>
          <p:cNvSpPr/>
          <p:nvPr/>
        </p:nvSpPr>
        <p:spPr>
          <a:xfrm>
            <a:off x="4645152" y="2130552"/>
            <a:ext cx="3108960" cy="86868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Connection_Year / Month / Day and Data_Year extracted from interconnection &amp; data-through dates.</a:t>
            </a:r>
            <a:endParaRPr lang="en-US" sz="1050" dirty="0"/>
          </a:p>
        </p:txBody>
      </p:sp>
      <p:sp>
        <p:nvSpPr>
          <p:cNvPr id="14" name="Shape 12"/>
          <p:cNvSpPr/>
          <p:nvPr/>
        </p:nvSpPr>
        <p:spPr>
          <a:xfrm>
            <a:off x="8229600" y="1417320"/>
            <a:ext cx="3611880" cy="1691640"/>
          </a:xfrm>
          <a:prstGeom prst="roundRect">
            <a:avLst>
              <a:gd name="adj" fmla="val 4324"/>
            </a:avLst>
          </a:prstGeom>
          <a:solidFill>
            <a:srgbClr val="F5F6F8"/>
          </a:solidFill>
          <a:ln/>
        </p:spPr>
      </p:sp>
      <p:sp>
        <p:nvSpPr>
          <p:cNvPr id="15" name="Shape 13"/>
          <p:cNvSpPr/>
          <p:nvPr/>
        </p:nvSpPr>
        <p:spPr>
          <a:xfrm>
            <a:off x="8430768" y="1600200"/>
            <a:ext cx="457200" cy="457200"/>
          </a:xfrm>
          <a:prstGeom prst="ellipse">
            <a:avLst/>
          </a:prstGeom>
          <a:solidFill>
            <a:srgbClr val="12233F"/>
          </a:solidFill>
          <a:ln/>
        </p:spPr>
      </p:sp>
      <p:sp>
        <p:nvSpPr>
          <p:cNvPr id="16" name="Text 14"/>
          <p:cNvSpPr/>
          <p:nvPr/>
        </p:nvSpPr>
        <p:spPr>
          <a:xfrm>
            <a:off x="8430768" y="1600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9052560" y="1581912"/>
            <a:ext cx="260604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Drop Noise</a:t>
            </a:r>
            <a:endParaRPr lang="en-US" sz="1300" dirty="0"/>
          </a:p>
        </p:txBody>
      </p:sp>
      <p:sp>
        <p:nvSpPr>
          <p:cNvPr id="18" name="Text 16"/>
          <p:cNvSpPr/>
          <p:nvPr/>
        </p:nvSpPr>
        <p:spPr>
          <a:xfrm>
            <a:off x="8485632" y="2130552"/>
            <a:ext cx="3108960" cy="86868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Project_ID removed — a unique identifier with no predictive signal.</a:t>
            </a:r>
            <a:endParaRPr lang="en-US" sz="1050" dirty="0"/>
          </a:p>
        </p:txBody>
      </p:sp>
      <p:sp>
        <p:nvSpPr>
          <p:cNvPr id="19" name="Shape 17"/>
          <p:cNvSpPr/>
          <p:nvPr/>
        </p:nvSpPr>
        <p:spPr>
          <a:xfrm>
            <a:off x="548640" y="3337560"/>
            <a:ext cx="3611880" cy="1691640"/>
          </a:xfrm>
          <a:prstGeom prst="roundRect">
            <a:avLst>
              <a:gd name="adj" fmla="val 4324"/>
            </a:avLst>
          </a:prstGeom>
          <a:solidFill>
            <a:srgbClr val="F5F6F8"/>
          </a:solidFill>
          <a:ln/>
        </p:spPr>
      </p:sp>
      <p:sp>
        <p:nvSpPr>
          <p:cNvPr id="20" name="Shape 18"/>
          <p:cNvSpPr/>
          <p:nvPr/>
        </p:nvSpPr>
        <p:spPr>
          <a:xfrm>
            <a:off x="749808" y="3520440"/>
            <a:ext cx="457200" cy="457200"/>
          </a:xfrm>
          <a:prstGeom prst="ellipse">
            <a:avLst/>
          </a:prstGeom>
          <a:solidFill>
            <a:srgbClr val="12233F"/>
          </a:solidFill>
          <a:ln/>
        </p:spPr>
      </p:sp>
      <p:sp>
        <p:nvSpPr>
          <p:cNvPr id="21" name="Text 19"/>
          <p:cNvSpPr/>
          <p:nvPr/>
        </p:nvSpPr>
        <p:spPr>
          <a:xfrm>
            <a:off x="749808" y="3520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371600" y="3502152"/>
            <a:ext cx="260604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Split Features</a:t>
            </a:r>
            <a:endParaRPr lang="en-US" sz="1300" dirty="0"/>
          </a:p>
        </p:txBody>
      </p:sp>
      <p:sp>
        <p:nvSpPr>
          <p:cNvPr id="23" name="Text 21"/>
          <p:cNvSpPr/>
          <p:nvPr/>
        </p:nvSpPr>
        <p:spPr>
          <a:xfrm>
            <a:off x="804672" y="4050792"/>
            <a:ext cx="3108960" cy="86868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Numerical vs categorical columns separated for targeted transforms.</a:t>
            </a:r>
            <a:endParaRPr lang="en-US" sz="1050" dirty="0"/>
          </a:p>
        </p:txBody>
      </p:sp>
      <p:sp>
        <p:nvSpPr>
          <p:cNvPr id="24" name="Shape 22"/>
          <p:cNvSpPr/>
          <p:nvPr/>
        </p:nvSpPr>
        <p:spPr>
          <a:xfrm>
            <a:off x="4389120" y="3337560"/>
            <a:ext cx="3611880" cy="1691640"/>
          </a:xfrm>
          <a:prstGeom prst="roundRect">
            <a:avLst>
              <a:gd name="adj" fmla="val 4324"/>
            </a:avLst>
          </a:prstGeom>
          <a:solidFill>
            <a:srgbClr val="F5F6F8"/>
          </a:solidFill>
          <a:ln/>
        </p:spPr>
      </p:sp>
      <p:sp>
        <p:nvSpPr>
          <p:cNvPr id="25" name="Shape 23"/>
          <p:cNvSpPr/>
          <p:nvPr/>
        </p:nvSpPr>
        <p:spPr>
          <a:xfrm>
            <a:off x="4590288" y="3520440"/>
            <a:ext cx="457200" cy="457200"/>
          </a:xfrm>
          <a:prstGeom prst="ellipse">
            <a:avLst/>
          </a:prstGeom>
          <a:solidFill>
            <a:srgbClr val="E8580C"/>
          </a:solidFill>
          <a:ln/>
        </p:spPr>
      </p:sp>
      <p:sp>
        <p:nvSpPr>
          <p:cNvPr id="26" name="Text 24"/>
          <p:cNvSpPr/>
          <p:nvPr/>
        </p:nvSpPr>
        <p:spPr>
          <a:xfrm>
            <a:off x="4590288" y="3520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5212080" y="3502152"/>
            <a:ext cx="260604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Impute + Scale</a:t>
            </a:r>
            <a:endParaRPr lang="en-US" sz="1300" dirty="0"/>
          </a:p>
        </p:txBody>
      </p:sp>
      <p:sp>
        <p:nvSpPr>
          <p:cNvPr id="28" name="Text 26"/>
          <p:cNvSpPr/>
          <p:nvPr/>
        </p:nvSpPr>
        <p:spPr>
          <a:xfrm>
            <a:off x="4645152" y="4050792"/>
            <a:ext cx="3108960" cy="86868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Numeric: median imputation → StandardScaler.</a:t>
            </a:r>
            <a:endParaRPr lang="en-US" sz="1050" dirty="0"/>
          </a:p>
        </p:txBody>
      </p:sp>
      <p:sp>
        <p:nvSpPr>
          <p:cNvPr id="29" name="Shape 27"/>
          <p:cNvSpPr/>
          <p:nvPr/>
        </p:nvSpPr>
        <p:spPr>
          <a:xfrm>
            <a:off x="8229600" y="3337560"/>
            <a:ext cx="3611880" cy="1691640"/>
          </a:xfrm>
          <a:prstGeom prst="roundRect">
            <a:avLst>
              <a:gd name="adj" fmla="val 4324"/>
            </a:avLst>
          </a:prstGeom>
          <a:solidFill>
            <a:srgbClr val="F5F6F8"/>
          </a:solidFill>
          <a:ln/>
        </p:spPr>
      </p:sp>
      <p:sp>
        <p:nvSpPr>
          <p:cNvPr id="30" name="Shape 28"/>
          <p:cNvSpPr/>
          <p:nvPr/>
        </p:nvSpPr>
        <p:spPr>
          <a:xfrm>
            <a:off x="8430768" y="3520440"/>
            <a:ext cx="457200" cy="457200"/>
          </a:xfrm>
          <a:prstGeom prst="ellipse">
            <a:avLst/>
          </a:prstGeom>
          <a:solidFill>
            <a:srgbClr val="E8580C"/>
          </a:solidFill>
          <a:ln/>
        </p:spPr>
      </p:sp>
      <p:sp>
        <p:nvSpPr>
          <p:cNvPr id="31" name="Text 29"/>
          <p:cNvSpPr/>
          <p:nvPr/>
        </p:nvSpPr>
        <p:spPr>
          <a:xfrm>
            <a:off x="8430768" y="3520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9052560" y="3502152"/>
            <a:ext cx="260604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Encode</a:t>
            </a:r>
            <a:endParaRPr lang="en-US" sz="1300" dirty="0"/>
          </a:p>
        </p:txBody>
      </p:sp>
      <p:sp>
        <p:nvSpPr>
          <p:cNvPr id="33" name="Text 31"/>
          <p:cNvSpPr/>
          <p:nvPr/>
        </p:nvSpPr>
        <p:spPr>
          <a:xfrm>
            <a:off x="8485632" y="4050792"/>
            <a:ext cx="3108960" cy="86868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Categorical: most-frequent imputation → OneHotEncoder(handle_unknown='ignore').</a:t>
            </a:r>
            <a:endParaRPr lang="en-US" sz="1050" dirty="0"/>
          </a:p>
        </p:txBody>
      </p:sp>
      <p:sp>
        <p:nvSpPr>
          <p:cNvPr id="34" name="Text 32"/>
          <p:cNvSpPr/>
          <p:nvPr/>
        </p:nvSpPr>
        <p:spPr>
          <a:xfrm>
            <a:off x="548640" y="5257800"/>
            <a:ext cx="11064240" cy="457200"/>
          </a:xfrm>
          <a:prstGeom prst="rect">
            <a:avLst/>
          </a:prstGeom>
          <a:solidFill>
            <a:srgbClr val="F5F6F8"/>
          </a:solidFill>
          <a:ln/>
        </p:spPr>
        <p:txBody>
          <a:bodyPr wrap="square" lIns="101600" tIns="101600" rIns="101600" bIns="101600" rtlCol="0" anchor="ctr"/>
          <a:lstStyle/>
          <a:p>
            <a:pPr marL="0" indent="0" algn="l">
              <a:buNone/>
            </a:pPr>
            <a:r>
              <a:rPr lang="en-US" sz="1050" dirty="0">
                <a:solidFill>
                  <a:srgbClr val="12233F"/>
                </a:solidFill>
                <a:latin typeface="Courier New" pitchFamily="34" charset="0"/>
                <a:ea typeface="Courier New" pitchFamily="34" charset="-122"/>
                <a:cs typeface="Courier New" pitchFamily="34" charset="-120"/>
              </a:rPr>
              <a:t>ColumnTransformer([ ("num", median-impute → StandardScaler, numerical_features), ("cat", mode-impute → OneHotEncoder, categorical_features) ])</a:t>
            </a:r>
            <a:endParaRPr lang="en-US" sz="1050" dirty="0"/>
          </a:p>
        </p:txBody>
      </p:sp>
      <p:sp>
        <p:nvSpPr>
          <p:cNvPr id="35" name="Text 33"/>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05</a:t>
            </a:r>
            <a:endParaRPr lang="en-US" sz="1000" dirty="0"/>
          </a:p>
        </p:txBody>
      </p:sp>
      <p:sp>
        <p:nvSpPr>
          <p:cNvPr id="36" name="Text 34"/>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8–9 · EXPLORATORY DATA ANALYSIS</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Distributions, correlation &amp; geographic spread</a:t>
            </a:r>
            <a:endParaRPr lang="en-US" sz="2900" dirty="0"/>
          </a:p>
        </p:txBody>
      </p:sp>
      <p:sp>
        <p:nvSpPr>
          <p:cNvPr id="4" name="Text 2"/>
          <p:cNvSpPr/>
          <p:nvPr/>
        </p:nvSpPr>
        <p:spPr>
          <a:xfrm>
            <a:off x="548640" y="1325880"/>
            <a:ext cx="5212080" cy="1828800"/>
          </a:xfrm>
          <a:prstGeom prst="rect">
            <a:avLst/>
          </a:prstGeom>
          <a:noFill/>
          <a:ln/>
        </p:spPr>
        <p:txBody>
          <a:bodyPr wrap="square" lIns="0" tIns="0" rIns="0" bIns="0" rtlCol="0" anchor="ctr"/>
          <a:lstStyle/>
          <a:p>
            <a:pPr marL="0" indent="0">
              <a:lnSpc>
                <a:spcPct val="135000"/>
              </a:lnSpc>
              <a:buNone/>
            </a:pPr>
            <a:r>
              <a:rPr lang="en-US" sz="1300" dirty="0">
                <a:solidFill>
                  <a:srgbClr val="1B2430"/>
                </a:solidFill>
                <a:latin typeface="Calibri" pitchFamily="34" charset="0"/>
                <a:ea typeface="Calibri" pitchFamily="34" charset="-122"/>
                <a:cs typeface="Calibri" pitchFamily="34" charset="-120"/>
              </a:rPr>
              <a:t>Histograms and boxplots of the numerical features (PV_kWdc, PV_kWac, Annual_Energy) revealed heavy right-skew and extreme outliers — a handful of large utility-scale projects sit far above the residential-scale majority. A correlation heatmap confirmed PV_kWdc and PV_kWac move almost in lock-step with Annual_Energy, foreshadowing which features would dominate the models.</a:t>
            </a:r>
            <a:endParaRPr lang="en-US" sz="1300" dirty="0"/>
          </a:p>
        </p:txBody>
      </p:sp>
      <p:sp>
        <p:nvSpPr>
          <p:cNvPr id="5" name="Shape 3"/>
          <p:cNvSpPr/>
          <p:nvPr/>
        </p:nvSpPr>
        <p:spPr>
          <a:xfrm>
            <a:off x="548640" y="3429000"/>
            <a:ext cx="109728" cy="109728"/>
          </a:xfrm>
          <a:prstGeom prst="ellipse">
            <a:avLst/>
          </a:prstGeom>
          <a:solidFill>
            <a:srgbClr val="E8580C"/>
          </a:solidFill>
          <a:ln/>
        </p:spPr>
      </p:sp>
      <p:sp>
        <p:nvSpPr>
          <p:cNvPr id="6" name="Text 4"/>
          <p:cNvSpPr/>
          <p:nvPr/>
        </p:nvSpPr>
        <p:spPr>
          <a:xfrm>
            <a:off x="777240" y="331012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Right-skewed sizing</a:t>
            </a:r>
            <a:endParaRPr lang="en-US" sz="1200" dirty="0"/>
          </a:p>
        </p:txBody>
      </p:sp>
      <p:sp>
        <p:nvSpPr>
          <p:cNvPr id="7" name="Text 5"/>
          <p:cNvSpPr/>
          <p:nvPr/>
        </p:nvSpPr>
        <p:spPr>
          <a:xfrm>
            <a:off x="777240" y="3566160"/>
            <a:ext cx="4937760" cy="50292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Median PV size 7.13 kWdc vs. a max of 43,470 kWdc — residential rooftops to utility-scale farms in one dataset.</a:t>
            </a:r>
            <a:endParaRPr lang="en-US" sz="1050" dirty="0"/>
          </a:p>
        </p:txBody>
      </p:sp>
      <p:sp>
        <p:nvSpPr>
          <p:cNvPr id="8" name="Shape 6"/>
          <p:cNvSpPr/>
          <p:nvPr/>
        </p:nvSpPr>
        <p:spPr>
          <a:xfrm>
            <a:off x="548640" y="4297680"/>
            <a:ext cx="109728" cy="109728"/>
          </a:xfrm>
          <a:prstGeom prst="ellipse">
            <a:avLst/>
          </a:prstGeom>
          <a:solidFill>
            <a:srgbClr val="E8580C"/>
          </a:solidFill>
          <a:ln/>
        </p:spPr>
      </p:sp>
      <p:sp>
        <p:nvSpPr>
          <p:cNvPr id="9" name="Text 7"/>
          <p:cNvSpPr/>
          <p:nvPr/>
        </p:nvSpPr>
        <p:spPr>
          <a:xfrm>
            <a:off x="777240" y="417880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Near-linear core relationship</a:t>
            </a:r>
            <a:endParaRPr lang="en-US" sz="1200" dirty="0"/>
          </a:p>
        </p:txBody>
      </p:sp>
      <p:sp>
        <p:nvSpPr>
          <p:cNvPr id="10" name="Text 8"/>
          <p:cNvSpPr/>
          <p:nvPr/>
        </p:nvSpPr>
        <p:spPr>
          <a:xfrm>
            <a:off x="777240" y="4434840"/>
            <a:ext cx="4937760" cy="50292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PV_kWac &amp; PV_kWdc correlate strongly with Annual_Energy — physically expected from PV output formulas.</a:t>
            </a:r>
            <a:endParaRPr lang="en-US" sz="1050" dirty="0"/>
          </a:p>
        </p:txBody>
      </p:sp>
      <p:sp>
        <p:nvSpPr>
          <p:cNvPr id="11" name="Shape 9"/>
          <p:cNvSpPr/>
          <p:nvPr/>
        </p:nvSpPr>
        <p:spPr>
          <a:xfrm>
            <a:off x="548640" y="5166360"/>
            <a:ext cx="109728" cy="109728"/>
          </a:xfrm>
          <a:prstGeom prst="ellipse">
            <a:avLst/>
          </a:prstGeom>
          <a:solidFill>
            <a:srgbClr val="E8580C"/>
          </a:solidFill>
          <a:ln/>
        </p:spPr>
      </p:sp>
      <p:sp>
        <p:nvSpPr>
          <p:cNvPr id="12" name="Text 10"/>
          <p:cNvSpPr/>
          <p:nvPr/>
        </p:nvSpPr>
        <p:spPr>
          <a:xfrm>
            <a:off x="777240" y="5047488"/>
            <a:ext cx="4937760" cy="274320"/>
          </a:xfrm>
          <a:prstGeom prst="rect">
            <a:avLst/>
          </a:prstGeom>
          <a:noFill/>
          <a:ln/>
        </p:spPr>
        <p:txBody>
          <a:bodyPr wrap="square" lIns="0" tIns="0" rIns="0" bIns="0" rtlCol="0" anchor="ctr"/>
          <a:lstStyle/>
          <a:p>
            <a:pPr marL="0" indent="0">
              <a:buNone/>
            </a:pPr>
            <a:r>
              <a:rPr lang="en-US" sz="1200" b="1" dirty="0">
                <a:solidFill>
                  <a:srgbClr val="12233F"/>
                </a:solidFill>
                <a:latin typeface="Calibri" pitchFamily="34" charset="0"/>
                <a:ea typeface="Calibri" pitchFamily="34" charset="-122"/>
                <a:cs typeface="Calibri" pitchFamily="34" charset="-120"/>
              </a:rPr>
              <a:t>Wide geographic reach</a:t>
            </a:r>
            <a:endParaRPr lang="en-US" sz="1200" dirty="0"/>
          </a:p>
        </p:txBody>
      </p:sp>
      <p:sp>
        <p:nvSpPr>
          <p:cNvPr id="13" name="Text 11"/>
          <p:cNvSpPr/>
          <p:nvPr/>
        </p:nvSpPr>
        <p:spPr>
          <a:xfrm>
            <a:off x="777240" y="5303520"/>
            <a:ext cx="4937760" cy="502920"/>
          </a:xfrm>
          <a:prstGeom prst="rect">
            <a:avLst/>
          </a:prstGeom>
          <a:noFill/>
          <a:ln/>
        </p:spPr>
        <p:txBody>
          <a:bodyPr wrap="square" lIns="0" tIns="0" rIns="0" bIns="0" rtlCol="0" anchor="ctr"/>
          <a:lstStyle/>
          <a:p>
            <a:pPr marL="0" indent="0">
              <a:lnSpc>
                <a:spcPct val="120000"/>
              </a:lnSpc>
              <a:buNone/>
            </a:pPr>
            <a:r>
              <a:rPr lang="en-US" sz="1050" dirty="0">
                <a:solidFill>
                  <a:srgbClr val="6B7686"/>
                </a:solidFill>
                <a:latin typeface="Calibri" pitchFamily="34" charset="0"/>
                <a:ea typeface="Calibri" pitchFamily="34" charset="-122"/>
                <a:cs typeface="Calibri" pitchFamily="34" charset="-120"/>
              </a:rPr>
              <a:t>Projects span multiple utilities, counties and thousands of ZIP codes / cities.</a:t>
            </a:r>
            <a:endParaRPr lang="en-US" sz="1050" dirty="0"/>
          </a:p>
        </p:txBody>
      </p:sp>
      <p:graphicFrame>
        <p:nvGraphicFramePr>
          <p:cNvPr id="14" name="Chart 0"/>
          <p:cNvGraphicFramePr/>
          <p:nvPr/>
        </p:nvGraphicFramePr>
        <p:xfrm>
          <a:off x="5943600" y="1280160"/>
          <a:ext cx="56692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2"/>
          <p:cNvSpPr/>
          <p:nvPr/>
        </p:nvSpPr>
        <p:spPr>
          <a:xfrm>
            <a:off x="5943600" y="6080760"/>
            <a:ext cx="5669280" cy="365760"/>
          </a:xfrm>
          <a:prstGeom prst="rect">
            <a:avLst/>
          </a:prstGeom>
          <a:noFill/>
          <a:ln/>
        </p:spPr>
        <p:txBody>
          <a:bodyPr wrap="square" lIns="0" tIns="0" rIns="0" bIns="0" rtlCol="0" anchor="ctr"/>
          <a:lstStyle/>
          <a:p>
            <a:pPr marL="0" indent="0">
              <a:buNone/>
            </a:pPr>
            <a:r>
              <a:rPr lang="en-US" sz="950" i="1" dirty="0">
                <a:solidFill>
                  <a:srgbClr val="6B7686"/>
                </a:solidFill>
                <a:latin typeface="Calibri" pitchFamily="34" charset="0"/>
                <a:ea typeface="Calibri" pitchFamily="34" charset="-122"/>
                <a:cs typeface="Calibri" pitchFamily="34" charset="-120"/>
              </a:rPr>
              <a:t>Note: leading cities are skewed by a small number of utility-scale outlier projects, not typical rooftop installs.</a:t>
            </a:r>
            <a:endParaRPr lang="en-US" sz="950" dirty="0"/>
          </a:p>
        </p:txBody>
      </p:sp>
      <p:sp>
        <p:nvSpPr>
          <p:cNvPr id="16" name="Text 13"/>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06</a:t>
            </a:r>
            <a:endParaRPr lang="en-US" sz="1000" dirty="0"/>
          </a:p>
        </p:txBody>
      </p:sp>
      <p:sp>
        <p:nvSpPr>
          <p:cNvPr id="17" name="Text 14"/>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3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F2A93B"/>
                </a:solidFill>
                <a:latin typeface="Calibri" pitchFamily="34" charset="0"/>
                <a:ea typeface="Calibri" pitchFamily="34" charset="-122"/>
                <a:cs typeface="Calibri" pitchFamily="34" charset="-120"/>
              </a:rPr>
              <a:t>STEP 10–11 · MODELING APPROACH</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FFFFFF"/>
                </a:solidFill>
                <a:latin typeface="Cambria" pitchFamily="34" charset="0"/>
                <a:ea typeface="Cambria" pitchFamily="34" charset="-122"/>
                <a:cs typeface="Cambria" pitchFamily="34" charset="-120"/>
              </a:rPr>
              <a:t>Four regression algorithms, one shared pipeline</a:t>
            </a:r>
            <a:endParaRPr lang="en-US" sz="2900" dirty="0"/>
          </a:p>
        </p:txBody>
      </p:sp>
      <p:sp>
        <p:nvSpPr>
          <p:cNvPr id="4" name="Text 2"/>
          <p:cNvSpPr/>
          <p:nvPr/>
        </p:nvSpPr>
        <p:spPr>
          <a:xfrm>
            <a:off x="548640" y="1234440"/>
            <a:ext cx="10515600" cy="548640"/>
          </a:xfrm>
          <a:prstGeom prst="rect">
            <a:avLst/>
          </a:prstGeom>
          <a:noFill/>
          <a:ln/>
        </p:spPr>
        <p:txBody>
          <a:bodyPr wrap="square" lIns="0" tIns="0" rIns="0" bIns="0" rtlCol="0" anchor="ctr"/>
          <a:lstStyle/>
          <a:p>
            <a:pPr marL="0" indent="0">
              <a:lnSpc>
                <a:spcPct val="130000"/>
              </a:lnSpc>
              <a:buNone/>
            </a:pPr>
            <a:r>
              <a:rPr lang="en-US" sz="1300" dirty="0">
                <a:solidFill>
                  <a:srgbClr val="C7D3E3"/>
                </a:solidFill>
                <a:latin typeface="Calibri" pitchFamily="34" charset="0"/>
                <a:ea typeface="Calibri" pitchFamily="34" charset="-122"/>
                <a:cs typeface="Calibri" pitchFamily="34" charset="-120"/>
              </a:rPr>
              <a:t>An 80/20 train-test split (random_state=42) feeds the same preprocessing pipeline into four candidate regressors, so comparisons isolate the effect of model choice alone.</a:t>
            </a:r>
            <a:endParaRPr lang="en-US" sz="1300" dirty="0"/>
          </a:p>
        </p:txBody>
      </p:sp>
      <p:sp>
        <p:nvSpPr>
          <p:cNvPr id="5" name="Shape 3"/>
          <p:cNvSpPr/>
          <p:nvPr/>
        </p:nvSpPr>
        <p:spPr>
          <a:xfrm>
            <a:off x="548640" y="2103120"/>
            <a:ext cx="2606040" cy="3291840"/>
          </a:xfrm>
          <a:prstGeom prst="roundRect">
            <a:avLst>
              <a:gd name="adj" fmla="val 3509"/>
            </a:avLst>
          </a:prstGeom>
          <a:solidFill>
            <a:srgbClr val="1B3A63"/>
          </a:solidFill>
          <a:ln/>
        </p:spPr>
      </p:sp>
      <p:sp>
        <p:nvSpPr>
          <p:cNvPr id="6" name="Shape 4"/>
          <p:cNvSpPr/>
          <p:nvPr/>
        </p:nvSpPr>
        <p:spPr>
          <a:xfrm>
            <a:off x="804672" y="2395728"/>
            <a:ext cx="502920" cy="502920"/>
          </a:xfrm>
          <a:prstGeom prst="ellipse">
            <a:avLst/>
          </a:prstGeom>
          <a:solidFill>
            <a:srgbClr val="F2A93B"/>
          </a:solidFill>
          <a:ln/>
        </p:spPr>
      </p:sp>
      <p:sp>
        <p:nvSpPr>
          <p:cNvPr id="7" name="Text 5"/>
          <p:cNvSpPr/>
          <p:nvPr/>
        </p:nvSpPr>
        <p:spPr>
          <a:xfrm>
            <a:off x="804672" y="2395728"/>
            <a:ext cx="502920" cy="502920"/>
          </a:xfrm>
          <a:prstGeom prst="rect">
            <a:avLst/>
          </a:prstGeom>
          <a:noFill/>
          <a:ln/>
        </p:spPr>
        <p:txBody>
          <a:bodyPr wrap="square" lIns="0" tIns="0" rIns="0" bIns="0" rtlCol="0" anchor="ctr"/>
          <a:lstStyle/>
          <a:p>
            <a:pPr marL="0" indent="0" algn="ctr">
              <a:buNone/>
            </a:pPr>
            <a:r>
              <a:rPr lang="en-US" sz="1800" b="1" dirty="0">
                <a:solidFill>
                  <a:srgbClr val="12233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04672" y="3063240"/>
            <a:ext cx="2148840" cy="59436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Linear Regression</a:t>
            </a:r>
            <a:endParaRPr lang="en-US" sz="1500" dirty="0"/>
          </a:p>
        </p:txBody>
      </p:sp>
      <p:sp>
        <p:nvSpPr>
          <p:cNvPr id="9" name="Text 7"/>
          <p:cNvSpPr/>
          <p:nvPr/>
        </p:nvSpPr>
        <p:spPr>
          <a:xfrm>
            <a:off x="804672" y="3703320"/>
            <a:ext cx="2103120" cy="1554480"/>
          </a:xfrm>
          <a:prstGeom prst="rect">
            <a:avLst/>
          </a:prstGeom>
          <a:noFill/>
          <a:ln/>
        </p:spPr>
        <p:txBody>
          <a:bodyPr wrap="square" lIns="0" tIns="0" rIns="0" bIns="0" rtlCol="0" anchor="ctr"/>
          <a:lstStyle/>
          <a:p>
            <a:pPr marL="0" indent="0">
              <a:lnSpc>
                <a:spcPct val="130000"/>
              </a:lnSpc>
              <a:buNone/>
            </a:pPr>
            <a:r>
              <a:rPr lang="en-US" sz="1050" dirty="0">
                <a:solidFill>
                  <a:srgbClr val="AEBBD1"/>
                </a:solidFill>
                <a:latin typeface="Calibri" pitchFamily="34" charset="0"/>
                <a:ea typeface="Calibri" pitchFamily="34" charset="-122"/>
                <a:cs typeface="Calibri" pitchFamily="34" charset="-120"/>
              </a:rPr>
              <a:t>Baseline linear model — captures the near-direct relationship between PV size and output.</a:t>
            </a:r>
            <a:endParaRPr lang="en-US" sz="1050" dirty="0"/>
          </a:p>
        </p:txBody>
      </p:sp>
      <p:sp>
        <p:nvSpPr>
          <p:cNvPr id="10" name="Shape 8"/>
          <p:cNvSpPr/>
          <p:nvPr/>
        </p:nvSpPr>
        <p:spPr>
          <a:xfrm>
            <a:off x="3364992" y="2103120"/>
            <a:ext cx="2606040" cy="3291840"/>
          </a:xfrm>
          <a:prstGeom prst="roundRect">
            <a:avLst>
              <a:gd name="adj" fmla="val 3509"/>
            </a:avLst>
          </a:prstGeom>
          <a:solidFill>
            <a:srgbClr val="1B3A63"/>
          </a:solidFill>
          <a:ln/>
        </p:spPr>
      </p:sp>
      <p:sp>
        <p:nvSpPr>
          <p:cNvPr id="11" name="Shape 9"/>
          <p:cNvSpPr/>
          <p:nvPr/>
        </p:nvSpPr>
        <p:spPr>
          <a:xfrm>
            <a:off x="3621024" y="2395728"/>
            <a:ext cx="502920" cy="502920"/>
          </a:xfrm>
          <a:prstGeom prst="ellipse">
            <a:avLst/>
          </a:prstGeom>
          <a:solidFill>
            <a:srgbClr val="F2A93B"/>
          </a:solidFill>
          <a:ln/>
        </p:spPr>
      </p:sp>
      <p:sp>
        <p:nvSpPr>
          <p:cNvPr id="12" name="Text 10"/>
          <p:cNvSpPr/>
          <p:nvPr/>
        </p:nvSpPr>
        <p:spPr>
          <a:xfrm>
            <a:off x="3621024" y="2395728"/>
            <a:ext cx="502920" cy="502920"/>
          </a:xfrm>
          <a:prstGeom prst="rect">
            <a:avLst/>
          </a:prstGeom>
          <a:noFill/>
          <a:ln/>
        </p:spPr>
        <p:txBody>
          <a:bodyPr wrap="square" lIns="0" tIns="0" rIns="0" bIns="0" rtlCol="0" anchor="ctr"/>
          <a:lstStyle/>
          <a:p>
            <a:pPr marL="0" indent="0" algn="ctr">
              <a:buNone/>
            </a:pPr>
            <a:r>
              <a:rPr lang="en-US" sz="1800" b="1" dirty="0">
                <a:solidFill>
                  <a:srgbClr val="12233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3621024" y="3063240"/>
            <a:ext cx="2148840" cy="59436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Random Forest</a:t>
            </a:r>
            <a:endParaRPr lang="en-US" sz="1500" dirty="0"/>
          </a:p>
        </p:txBody>
      </p:sp>
      <p:sp>
        <p:nvSpPr>
          <p:cNvPr id="14" name="Text 12"/>
          <p:cNvSpPr/>
          <p:nvPr/>
        </p:nvSpPr>
        <p:spPr>
          <a:xfrm>
            <a:off x="3621024" y="3703320"/>
            <a:ext cx="2103120" cy="1554480"/>
          </a:xfrm>
          <a:prstGeom prst="rect">
            <a:avLst/>
          </a:prstGeom>
          <a:noFill/>
          <a:ln/>
        </p:spPr>
        <p:txBody>
          <a:bodyPr wrap="square" lIns="0" tIns="0" rIns="0" bIns="0" rtlCol="0" anchor="ctr"/>
          <a:lstStyle/>
          <a:p>
            <a:pPr marL="0" indent="0">
              <a:lnSpc>
                <a:spcPct val="130000"/>
              </a:lnSpc>
              <a:buNone/>
            </a:pPr>
            <a:r>
              <a:rPr lang="en-US" sz="1050" dirty="0">
                <a:solidFill>
                  <a:srgbClr val="AEBBD1"/>
                </a:solidFill>
                <a:latin typeface="Calibri" pitchFamily="34" charset="0"/>
                <a:ea typeface="Calibri" pitchFamily="34" charset="-122"/>
                <a:cs typeface="Calibri" pitchFamily="34" charset="-120"/>
              </a:rPr>
              <a:t>Bagged ensemble of decision trees — robust to outliers and non-linear interactions.</a:t>
            </a:r>
            <a:endParaRPr lang="en-US" sz="1050" dirty="0"/>
          </a:p>
        </p:txBody>
      </p:sp>
      <p:sp>
        <p:nvSpPr>
          <p:cNvPr id="15" name="Shape 13"/>
          <p:cNvSpPr/>
          <p:nvPr/>
        </p:nvSpPr>
        <p:spPr>
          <a:xfrm>
            <a:off x="6181344" y="2103120"/>
            <a:ext cx="2606040" cy="3291840"/>
          </a:xfrm>
          <a:prstGeom prst="roundRect">
            <a:avLst>
              <a:gd name="adj" fmla="val 3509"/>
            </a:avLst>
          </a:prstGeom>
          <a:solidFill>
            <a:srgbClr val="1B3A63"/>
          </a:solidFill>
          <a:ln/>
        </p:spPr>
      </p:sp>
      <p:sp>
        <p:nvSpPr>
          <p:cNvPr id="16" name="Shape 14"/>
          <p:cNvSpPr/>
          <p:nvPr/>
        </p:nvSpPr>
        <p:spPr>
          <a:xfrm>
            <a:off x="6437376" y="2395728"/>
            <a:ext cx="502920" cy="502920"/>
          </a:xfrm>
          <a:prstGeom prst="ellipse">
            <a:avLst/>
          </a:prstGeom>
          <a:solidFill>
            <a:srgbClr val="F2A93B"/>
          </a:solidFill>
          <a:ln/>
        </p:spPr>
      </p:sp>
      <p:sp>
        <p:nvSpPr>
          <p:cNvPr id="17" name="Text 15"/>
          <p:cNvSpPr/>
          <p:nvPr/>
        </p:nvSpPr>
        <p:spPr>
          <a:xfrm>
            <a:off x="6437376" y="2395728"/>
            <a:ext cx="502920" cy="502920"/>
          </a:xfrm>
          <a:prstGeom prst="rect">
            <a:avLst/>
          </a:prstGeom>
          <a:noFill/>
          <a:ln/>
        </p:spPr>
        <p:txBody>
          <a:bodyPr wrap="square" lIns="0" tIns="0" rIns="0" bIns="0" rtlCol="0" anchor="ctr"/>
          <a:lstStyle/>
          <a:p>
            <a:pPr marL="0" indent="0" algn="ctr">
              <a:buNone/>
            </a:pPr>
            <a:r>
              <a:rPr lang="en-US" sz="1800" b="1" dirty="0">
                <a:solidFill>
                  <a:srgbClr val="12233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6437376" y="3063240"/>
            <a:ext cx="2148840" cy="59436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Gradient Boosting</a:t>
            </a:r>
            <a:endParaRPr lang="en-US" sz="1500" dirty="0"/>
          </a:p>
        </p:txBody>
      </p:sp>
      <p:sp>
        <p:nvSpPr>
          <p:cNvPr id="19" name="Text 17"/>
          <p:cNvSpPr/>
          <p:nvPr/>
        </p:nvSpPr>
        <p:spPr>
          <a:xfrm>
            <a:off x="6437376" y="3703320"/>
            <a:ext cx="2103120" cy="1554480"/>
          </a:xfrm>
          <a:prstGeom prst="rect">
            <a:avLst/>
          </a:prstGeom>
          <a:noFill/>
          <a:ln/>
        </p:spPr>
        <p:txBody>
          <a:bodyPr wrap="square" lIns="0" tIns="0" rIns="0" bIns="0" rtlCol="0" anchor="ctr"/>
          <a:lstStyle/>
          <a:p>
            <a:pPr marL="0" indent="0">
              <a:lnSpc>
                <a:spcPct val="130000"/>
              </a:lnSpc>
              <a:buNone/>
            </a:pPr>
            <a:r>
              <a:rPr lang="en-US" sz="1050" dirty="0">
                <a:solidFill>
                  <a:srgbClr val="AEBBD1"/>
                </a:solidFill>
                <a:latin typeface="Calibri" pitchFamily="34" charset="0"/>
                <a:ea typeface="Calibri" pitchFamily="34" charset="-122"/>
                <a:cs typeface="Calibri" pitchFamily="34" charset="-120"/>
              </a:rPr>
              <a:t>Sequential boosted trees — corrects prior errors iteratively for sharper fit.</a:t>
            </a:r>
            <a:endParaRPr lang="en-US" sz="1050" dirty="0"/>
          </a:p>
        </p:txBody>
      </p:sp>
      <p:sp>
        <p:nvSpPr>
          <p:cNvPr id="20" name="Shape 18"/>
          <p:cNvSpPr/>
          <p:nvPr/>
        </p:nvSpPr>
        <p:spPr>
          <a:xfrm>
            <a:off x="8997696" y="2103120"/>
            <a:ext cx="2606040" cy="3291840"/>
          </a:xfrm>
          <a:prstGeom prst="roundRect">
            <a:avLst>
              <a:gd name="adj" fmla="val 3509"/>
            </a:avLst>
          </a:prstGeom>
          <a:solidFill>
            <a:srgbClr val="1B3A63"/>
          </a:solidFill>
          <a:ln/>
        </p:spPr>
      </p:sp>
      <p:sp>
        <p:nvSpPr>
          <p:cNvPr id="21" name="Shape 19"/>
          <p:cNvSpPr/>
          <p:nvPr/>
        </p:nvSpPr>
        <p:spPr>
          <a:xfrm>
            <a:off x="9253728" y="2395728"/>
            <a:ext cx="502920" cy="502920"/>
          </a:xfrm>
          <a:prstGeom prst="ellipse">
            <a:avLst/>
          </a:prstGeom>
          <a:solidFill>
            <a:srgbClr val="F2A93B"/>
          </a:solidFill>
          <a:ln/>
        </p:spPr>
      </p:sp>
      <p:sp>
        <p:nvSpPr>
          <p:cNvPr id="22" name="Text 20"/>
          <p:cNvSpPr/>
          <p:nvPr/>
        </p:nvSpPr>
        <p:spPr>
          <a:xfrm>
            <a:off x="9253728" y="2395728"/>
            <a:ext cx="502920" cy="502920"/>
          </a:xfrm>
          <a:prstGeom prst="rect">
            <a:avLst/>
          </a:prstGeom>
          <a:noFill/>
          <a:ln/>
        </p:spPr>
        <p:txBody>
          <a:bodyPr wrap="square" lIns="0" tIns="0" rIns="0" bIns="0" rtlCol="0" anchor="ctr"/>
          <a:lstStyle/>
          <a:p>
            <a:pPr marL="0" indent="0" algn="ctr">
              <a:buNone/>
            </a:pPr>
            <a:r>
              <a:rPr lang="en-US" sz="1800" b="1" dirty="0">
                <a:solidFill>
                  <a:srgbClr val="12233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9253728" y="3063240"/>
            <a:ext cx="2148840" cy="59436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Extra Trees</a:t>
            </a:r>
            <a:endParaRPr lang="en-US" sz="1500" dirty="0"/>
          </a:p>
        </p:txBody>
      </p:sp>
      <p:sp>
        <p:nvSpPr>
          <p:cNvPr id="24" name="Text 22"/>
          <p:cNvSpPr/>
          <p:nvPr/>
        </p:nvSpPr>
        <p:spPr>
          <a:xfrm>
            <a:off x="9253728" y="3703320"/>
            <a:ext cx="2103120" cy="1554480"/>
          </a:xfrm>
          <a:prstGeom prst="rect">
            <a:avLst/>
          </a:prstGeom>
          <a:noFill/>
          <a:ln/>
        </p:spPr>
        <p:txBody>
          <a:bodyPr wrap="square" lIns="0" tIns="0" rIns="0" bIns="0" rtlCol="0" anchor="ctr"/>
          <a:lstStyle/>
          <a:p>
            <a:pPr marL="0" indent="0">
              <a:lnSpc>
                <a:spcPct val="130000"/>
              </a:lnSpc>
              <a:buNone/>
            </a:pPr>
            <a:r>
              <a:rPr lang="en-US" sz="1050" dirty="0">
                <a:solidFill>
                  <a:srgbClr val="AEBBD1"/>
                </a:solidFill>
                <a:latin typeface="Calibri" pitchFamily="34" charset="0"/>
                <a:ea typeface="Calibri" pitchFamily="34" charset="-122"/>
                <a:cs typeface="Calibri" pitchFamily="34" charset="-120"/>
              </a:rPr>
              <a:t>Extremely randomized trees — additional variance reduction, evaluated as a 4th candidate.</a:t>
            </a:r>
            <a:endParaRPr lang="en-US" sz="1050" dirty="0"/>
          </a:p>
        </p:txBody>
      </p:sp>
      <p:sp>
        <p:nvSpPr>
          <p:cNvPr id="25" name="Text 23"/>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07</a:t>
            </a:r>
            <a:endParaRPr lang="en-US" sz="1000" dirty="0"/>
          </a:p>
        </p:txBody>
      </p:sp>
      <p:sp>
        <p:nvSpPr>
          <p:cNvPr id="26" name="Text 24"/>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12 · MODEL COMPARISON</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Comparing model performance on the test set</a:t>
            </a:r>
            <a:endParaRPr lang="en-US" sz="2900" dirty="0"/>
          </a:p>
        </p:txBody>
      </p:sp>
      <p:graphicFrame>
        <p:nvGraphicFramePr>
          <p:cNvPr id="4" name="Chart 0"/>
          <p:cNvGraphicFramePr/>
          <p:nvPr/>
        </p:nvGraphicFramePr>
        <p:xfrm>
          <a:off x="548640" y="1371600"/>
          <a:ext cx="557784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0" y="1600200"/>
          <a:ext cx="5257800" cy="2194560"/>
        </p:xfrm>
        <a:graphic>
          <a:graphicData uri="http://schemas.openxmlformats.org/drawingml/2006/table">
            <a:tbl>
              <a:tblPr/>
              <a:tblGrid>
                <a:gridCol w="2331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3891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solidFill>
                      <a:srgbClr val="12233F"/>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R²</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solidFill>
                      <a:srgbClr val="12233F"/>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MAE (kWh)</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solidFill>
                      <a:srgbClr val="12233F"/>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Linear Regression</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tc>
                  <a:txBody>
                    <a:bodyPr/>
                    <a:lstStyle/>
                    <a:p>
                      <a:pPr marL="0" indent="0" algn="r">
                        <a:buNone/>
                      </a:pPr>
                      <a:r>
                        <a:rPr lang="en-US" sz="1100" dirty="0">
                          <a:solidFill>
                            <a:srgbClr val="1B2430"/>
                          </a:solidFill>
                          <a:latin typeface="Calibri" pitchFamily="34" charset="0"/>
                          <a:ea typeface="Calibri" pitchFamily="34" charset="-122"/>
                          <a:cs typeface="Calibri" pitchFamily="34" charset="-120"/>
                        </a:rPr>
                        <a:t>1.000000</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tc>
                  <a:txBody>
                    <a:bodyPr/>
                    <a:lstStyle/>
                    <a:p>
                      <a:pPr marL="0" indent="0" algn="r">
                        <a:buNone/>
                      </a:pPr>
                      <a:r>
                        <a:rPr lang="en-US" sz="1100" dirty="0">
                          <a:solidFill>
                            <a:srgbClr val="1B2430"/>
                          </a:solidFill>
                          <a:latin typeface="Calibri" pitchFamily="34" charset="0"/>
                          <a:ea typeface="Calibri" pitchFamily="34" charset="-122"/>
                          <a:cs typeface="Calibri" pitchFamily="34" charset="-120"/>
                        </a:rPr>
                        <a:t>4.15</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12233F"/>
                          </a:solidFill>
                          <a:latin typeface="Calibri" pitchFamily="34" charset="0"/>
                          <a:ea typeface="Calibri" pitchFamily="34" charset="-122"/>
                          <a:cs typeface="Calibri" pitchFamily="34" charset="-120"/>
                        </a:rPr>
                        <a:t>Random Forest  ★</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solidFill>
                      <a:srgbClr val="FBCB6B"/>
                    </a:solidFill>
                  </a:tcPr>
                </a:tc>
                <a:tc>
                  <a:txBody>
                    <a:bodyPr/>
                    <a:lstStyle/>
                    <a:p>
                      <a:pPr marL="0" indent="0" algn="r">
                        <a:buNone/>
                      </a:pPr>
                      <a:r>
                        <a:rPr lang="en-US" sz="1100" b="1" dirty="0">
                          <a:solidFill>
                            <a:srgbClr val="12233F"/>
                          </a:solidFill>
                          <a:latin typeface="Calibri" pitchFamily="34" charset="0"/>
                          <a:ea typeface="Calibri" pitchFamily="34" charset="-122"/>
                          <a:cs typeface="Calibri" pitchFamily="34" charset="-120"/>
                        </a:rPr>
                        <a:t>0.994644</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solidFill>
                      <a:srgbClr val="FBCB6B"/>
                    </a:solidFill>
                  </a:tcPr>
                </a:tc>
                <a:tc>
                  <a:txBody>
                    <a:bodyPr/>
                    <a:lstStyle/>
                    <a:p>
                      <a:pPr marL="0" indent="0" algn="r">
                        <a:buNone/>
                      </a:pPr>
                      <a:r>
                        <a:rPr lang="en-US" sz="1100" b="1" dirty="0">
                          <a:solidFill>
                            <a:srgbClr val="12233F"/>
                          </a:solidFill>
                          <a:latin typeface="Calibri" pitchFamily="34" charset="0"/>
                          <a:ea typeface="Calibri" pitchFamily="34" charset="-122"/>
                          <a:cs typeface="Calibri" pitchFamily="34" charset="-120"/>
                        </a:rPr>
                        <a:t>191.19</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solidFill>
                      <a:srgbClr val="FBCB6B"/>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Gradient Boosting</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tc>
                  <a:txBody>
                    <a:bodyPr/>
                    <a:lstStyle/>
                    <a:p>
                      <a:pPr marL="0" indent="0" algn="r">
                        <a:buNone/>
                      </a:pPr>
                      <a:r>
                        <a:rPr lang="en-US" sz="1100" dirty="0">
                          <a:solidFill>
                            <a:srgbClr val="1B2430"/>
                          </a:solidFill>
                          <a:latin typeface="Calibri" pitchFamily="34" charset="0"/>
                          <a:ea typeface="Calibri" pitchFamily="34" charset="-122"/>
                          <a:cs typeface="Calibri" pitchFamily="34" charset="-120"/>
                        </a:rPr>
                        <a:t>0.977423</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tc>
                  <a:txBody>
                    <a:bodyPr/>
                    <a:lstStyle/>
                    <a:p>
                      <a:pPr marL="0" indent="0" algn="r">
                        <a:buNone/>
                      </a:pPr>
                      <a:r>
                        <a:rPr lang="en-US" sz="1100" dirty="0">
                          <a:solidFill>
                            <a:srgbClr val="1B2430"/>
                          </a:solidFill>
                          <a:latin typeface="Calibri" pitchFamily="34" charset="0"/>
                          <a:ea typeface="Calibri" pitchFamily="34" charset="-122"/>
                          <a:cs typeface="Calibri" pitchFamily="34" charset="-120"/>
                        </a:rPr>
                        <a:t>561.67</a:t>
                      </a:r>
                      <a:endParaRPr lang="en-US" sz="110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050" i="1" dirty="0">
                          <a:solidFill>
                            <a:srgbClr val="6B7686"/>
                          </a:solidFill>
                          <a:latin typeface="Calibri" pitchFamily="34" charset="0"/>
                          <a:ea typeface="Calibri" pitchFamily="34" charset="-122"/>
                          <a:cs typeface="Calibri" pitchFamily="34" charset="-120"/>
                        </a:rPr>
                        <a:t>Extra Trees (extra check)</a:t>
                      </a:r>
                      <a:endParaRPr lang="en-US" sz="105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tc>
                  <a:txBody>
                    <a:bodyPr/>
                    <a:lstStyle/>
                    <a:p>
                      <a:pPr marL="0" indent="0" algn="r">
                        <a:buNone/>
                      </a:pPr>
                      <a:r>
                        <a:rPr lang="en-US" sz="1050" i="1" dirty="0">
                          <a:solidFill>
                            <a:srgbClr val="6B7686"/>
                          </a:solidFill>
                          <a:latin typeface="Calibri" pitchFamily="34" charset="0"/>
                          <a:ea typeface="Calibri" pitchFamily="34" charset="-122"/>
                          <a:cs typeface="Calibri" pitchFamily="34" charset="-120"/>
                        </a:rPr>
                        <a:t>0.999277</a:t>
                      </a:r>
                      <a:endParaRPr lang="en-US" sz="105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tc>
                  <a:txBody>
                    <a:bodyPr/>
                    <a:lstStyle/>
                    <a:p>
                      <a:pPr marL="0" indent="0" algn="r">
                        <a:buNone/>
                      </a:pPr>
                      <a:r>
                        <a:rPr lang="en-US" sz="1050" i="1" dirty="0">
                          <a:solidFill>
                            <a:srgbClr val="6B7686"/>
                          </a:solidFill>
                          <a:latin typeface="Calibri" pitchFamily="34" charset="0"/>
                          <a:ea typeface="Calibri" pitchFamily="34" charset="-122"/>
                          <a:cs typeface="Calibri" pitchFamily="34" charset="-120"/>
                        </a:rPr>
                        <a:t>66.13</a:t>
                      </a:r>
                      <a:endParaRPr lang="en-US" sz="1050" dirty="0">
                        <a:latin typeface="Calibri" charset="0"/>
                        <a:ea typeface="Calibri" charset="0"/>
                        <a:cs typeface="Calibri" charset="0"/>
                      </a:endParaRPr>
                    </a:p>
                  </a:txBody>
                  <a:tcPr>
                    <a:lnL w="9525" cap="flat" cmpd="sng" algn="ctr">
                      <a:solidFill>
                        <a:srgbClr val="E2E5EA"/>
                      </a:solidFill>
                      <a:prstDash val="solid"/>
                      <a:round/>
                      <a:headEnd type="none" w="med" len="med"/>
                      <a:tailEnd type="none" w="med" len="med"/>
                    </a:lnL>
                    <a:lnR w="9525" cap="flat" cmpd="sng" algn="ctr">
                      <a:solidFill>
                        <a:srgbClr val="E2E5EA"/>
                      </a:solidFill>
                      <a:prstDash val="solid"/>
                      <a:round/>
                      <a:headEnd type="none" w="med" len="med"/>
                      <a:tailEnd type="none" w="med" len="med"/>
                    </a:lnR>
                    <a:lnT w="9525" cap="flat" cmpd="sng" algn="ctr">
                      <a:solidFill>
                        <a:srgbClr val="E2E5EA"/>
                      </a:solidFill>
                      <a:prstDash val="solid"/>
                      <a:round/>
                      <a:headEnd type="none" w="med" len="med"/>
                      <a:tailEnd type="none" w="med" len="med"/>
                    </a:lnT>
                    <a:lnB w="9525" cap="flat" cmpd="sng" algn="ctr">
                      <a:solidFill>
                        <a:srgbClr val="E2E5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6400800" y="4023360"/>
            <a:ext cx="5257800" cy="2194560"/>
          </a:xfrm>
          <a:prstGeom prst="rect">
            <a:avLst/>
          </a:prstGeom>
          <a:noFill/>
          <a:ln/>
        </p:spPr>
        <p:txBody>
          <a:bodyPr wrap="square" lIns="0" tIns="0" rIns="0" bIns="0" rtlCol="0" anchor="ctr"/>
          <a:lstStyle/>
          <a:p>
            <a:pPr marL="0" indent="0">
              <a:lnSpc>
                <a:spcPct val="135000"/>
              </a:lnSpc>
              <a:buNone/>
            </a:pPr>
            <a:r>
              <a:rPr lang="en-US" sz="1150" dirty="0">
                <a:solidFill>
                  <a:srgbClr val="1B2430"/>
                </a:solidFill>
                <a:latin typeface="Calibri" pitchFamily="34" charset="0"/>
                <a:ea typeface="Calibri" pitchFamily="34" charset="-122"/>
                <a:cs typeface="Calibri" pitchFamily="34" charset="-120"/>
              </a:rPr>
              <a:t>Linear Regression's near-perfect R² reflects how closely Annual_Energy tracks PV system size in this engineering dataset — but that tight linear coupling makes it fragile outside the observed range. Random Forest was carried forward as the production model for its balance of accuracy and robustness to outliers.</a:t>
            </a:r>
            <a:endParaRPr lang="en-US" sz="1150" dirty="0"/>
          </a:p>
        </p:txBody>
      </p:sp>
      <p:sp>
        <p:nvSpPr>
          <p:cNvPr id="7" name="Text 3"/>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08</a:t>
            </a:r>
            <a:endParaRPr lang="en-US" sz="1000" dirty="0"/>
          </a:p>
        </p:txBody>
      </p:sp>
      <p:sp>
        <p:nvSpPr>
          <p:cNvPr id="8" name="Text 4"/>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3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F2A93B"/>
                </a:solidFill>
                <a:latin typeface="Calibri" pitchFamily="34" charset="0"/>
                <a:ea typeface="Calibri" pitchFamily="34" charset="-122"/>
                <a:cs typeface="Calibri" pitchFamily="34" charset="-120"/>
              </a:rPr>
              <a:t>STEP 13–16 · FINAL MODEL SELECTION</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FFFFFF"/>
                </a:solidFill>
                <a:latin typeface="Cambria" pitchFamily="34" charset="0"/>
                <a:ea typeface="Cambria" pitchFamily="34" charset="-122"/>
                <a:cs typeface="Cambria" pitchFamily="34" charset="-120"/>
              </a:rPr>
              <a:t>Random Forest — the production model</a:t>
            </a:r>
            <a:endParaRPr lang="en-US" sz="2900" dirty="0"/>
          </a:p>
        </p:txBody>
      </p:sp>
      <p:sp>
        <p:nvSpPr>
          <p:cNvPr id="4" name="Text 2"/>
          <p:cNvSpPr/>
          <p:nvPr/>
        </p:nvSpPr>
        <p:spPr>
          <a:xfrm>
            <a:off x="548640" y="1234440"/>
            <a:ext cx="10515600" cy="594360"/>
          </a:xfrm>
          <a:prstGeom prst="rect">
            <a:avLst/>
          </a:prstGeom>
          <a:noFill/>
          <a:ln/>
        </p:spPr>
        <p:txBody>
          <a:bodyPr wrap="square" lIns="0" tIns="0" rIns="0" bIns="0" rtlCol="0" anchor="ctr"/>
          <a:lstStyle/>
          <a:p>
            <a:pPr marL="0" indent="0">
              <a:lnSpc>
                <a:spcPct val="130000"/>
              </a:lnSpc>
              <a:buNone/>
            </a:pPr>
            <a:r>
              <a:rPr lang="en-US" sz="1300" dirty="0">
                <a:solidFill>
                  <a:srgbClr val="C7D3E3"/>
                </a:solidFill>
                <a:latin typeface="Calibri" pitchFamily="34" charset="0"/>
                <a:ea typeface="Calibri" pitchFamily="34" charset="-122"/>
                <a:cs typeface="Calibri" pitchFamily="34" charset="-120"/>
              </a:rPr>
              <a:t>Selected for its strong fit and resilience to the dataset's heavy outliers and skew, after hyperparameter tuning and cross-validation were scoped out due to runtime constraints on the full 218K-row dataset.</a:t>
            </a:r>
            <a:endParaRPr lang="en-US" sz="1300" dirty="0"/>
          </a:p>
        </p:txBody>
      </p:sp>
      <p:sp>
        <p:nvSpPr>
          <p:cNvPr id="5" name="Shape 3"/>
          <p:cNvSpPr/>
          <p:nvPr/>
        </p:nvSpPr>
        <p:spPr>
          <a:xfrm>
            <a:off x="548640" y="2148840"/>
            <a:ext cx="3520440" cy="2194560"/>
          </a:xfrm>
          <a:prstGeom prst="roundRect">
            <a:avLst>
              <a:gd name="adj" fmla="val 4167"/>
            </a:avLst>
          </a:prstGeom>
          <a:solidFill>
            <a:srgbClr val="1B3A63"/>
          </a:solidFill>
          <a:ln/>
        </p:spPr>
      </p:sp>
      <p:sp>
        <p:nvSpPr>
          <p:cNvPr id="6" name="Text 4"/>
          <p:cNvSpPr/>
          <p:nvPr/>
        </p:nvSpPr>
        <p:spPr>
          <a:xfrm>
            <a:off x="868680" y="2377440"/>
            <a:ext cx="2926080" cy="868680"/>
          </a:xfrm>
          <a:prstGeom prst="rect">
            <a:avLst/>
          </a:prstGeom>
          <a:noFill/>
          <a:ln/>
        </p:spPr>
        <p:txBody>
          <a:bodyPr wrap="square" lIns="0" tIns="0" rIns="0" bIns="0" rtlCol="0" anchor="ctr"/>
          <a:lstStyle/>
          <a:p>
            <a:pPr marL="0" indent="0">
              <a:buNone/>
            </a:pPr>
            <a:r>
              <a:rPr lang="en-US" sz="4000" b="1" dirty="0">
                <a:solidFill>
                  <a:srgbClr val="F2A93B"/>
                </a:solidFill>
                <a:latin typeface="Cambria" pitchFamily="34" charset="0"/>
                <a:ea typeface="Cambria" pitchFamily="34" charset="-122"/>
                <a:cs typeface="Cambria" pitchFamily="34" charset="-120"/>
              </a:rPr>
              <a:t>0.9946</a:t>
            </a:r>
            <a:endParaRPr lang="en-US" sz="4000" dirty="0"/>
          </a:p>
        </p:txBody>
      </p:sp>
      <p:sp>
        <p:nvSpPr>
          <p:cNvPr id="7" name="Text 5"/>
          <p:cNvSpPr/>
          <p:nvPr/>
        </p:nvSpPr>
        <p:spPr>
          <a:xfrm>
            <a:off x="868680" y="3246120"/>
            <a:ext cx="29260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R² Score</a:t>
            </a:r>
            <a:endParaRPr lang="en-US" sz="1300" dirty="0"/>
          </a:p>
        </p:txBody>
      </p:sp>
      <p:sp>
        <p:nvSpPr>
          <p:cNvPr id="8" name="Text 6"/>
          <p:cNvSpPr/>
          <p:nvPr/>
        </p:nvSpPr>
        <p:spPr>
          <a:xfrm>
            <a:off x="868680" y="3566160"/>
            <a:ext cx="2926080" cy="640080"/>
          </a:xfrm>
          <a:prstGeom prst="rect">
            <a:avLst/>
          </a:prstGeom>
          <a:noFill/>
          <a:ln/>
        </p:spPr>
        <p:txBody>
          <a:bodyPr wrap="square" lIns="0" tIns="0" rIns="0" bIns="0" rtlCol="0" anchor="ctr"/>
          <a:lstStyle/>
          <a:p>
            <a:pPr marL="0" indent="0">
              <a:lnSpc>
                <a:spcPct val="125000"/>
              </a:lnSpc>
              <a:buNone/>
            </a:pPr>
            <a:r>
              <a:rPr lang="en-US" sz="1050" dirty="0">
                <a:solidFill>
                  <a:srgbClr val="AEBBD1"/>
                </a:solidFill>
                <a:latin typeface="Calibri" pitchFamily="34" charset="0"/>
                <a:ea typeface="Calibri" pitchFamily="34" charset="-122"/>
                <a:cs typeface="Calibri" pitchFamily="34" charset="-120"/>
              </a:rPr>
              <a:t>94.6% of variance in annual energy explained</a:t>
            </a:r>
            <a:endParaRPr lang="en-US" sz="1050" dirty="0"/>
          </a:p>
        </p:txBody>
      </p:sp>
      <p:sp>
        <p:nvSpPr>
          <p:cNvPr id="9" name="Shape 7"/>
          <p:cNvSpPr/>
          <p:nvPr/>
        </p:nvSpPr>
        <p:spPr>
          <a:xfrm>
            <a:off x="4297680" y="2148840"/>
            <a:ext cx="3520440" cy="2194560"/>
          </a:xfrm>
          <a:prstGeom prst="roundRect">
            <a:avLst>
              <a:gd name="adj" fmla="val 4167"/>
            </a:avLst>
          </a:prstGeom>
          <a:solidFill>
            <a:srgbClr val="1B3A63"/>
          </a:solidFill>
          <a:ln/>
        </p:spPr>
      </p:sp>
      <p:sp>
        <p:nvSpPr>
          <p:cNvPr id="10" name="Text 8"/>
          <p:cNvSpPr/>
          <p:nvPr/>
        </p:nvSpPr>
        <p:spPr>
          <a:xfrm>
            <a:off x="4617720" y="2377440"/>
            <a:ext cx="2926080" cy="868680"/>
          </a:xfrm>
          <a:prstGeom prst="rect">
            <a:avLst/>
          </a:prstGeom>
          <a:noFill/>
          <a:ln/>
        </p:spPr>
        <p:txBody>
          <a:bodyPr wrap="square" lIns="0" tIns="0" rIns="0" bIns="0" rtlCol="0" anchor="ctr"/>
          <a:lstStyle/>
          <a:p>
            <a:pPr marL="0" indent="0">
              <a:buNone/>
            </a:pPr>
            <a:r>
              <a:rPr lang="en-US" sz="4000" b="1" dirty="0">
                <a:solidFill>
                  <a:srgbClr val="F2A93B"/>
                </a:solidFill>
                <a:latin typeface="Cambria" pitchFamily="34" charset="0"/>
                <a:ea typeface="Cambria" pitchFamily="34" charset="-122"/>
                <a:cs typeface="Cambria" pitchFamily="34" charset="-120"/>
              </a:rPr>
              <a:t>191.19</a:t>
            </a:r>
            <a:endParaRPr lang="en-US" sz="4000" dirty="0"/>
          </a:p>
        </p:txBody>
      </p:sp>
      <p:sp>
        <p:nvSpPr>
          <p:cNvPr id="11" name="Text 9"/>
          <p:cNvSpPr/>
          <p:nvPr/>
        </p:nvSpPr>
        <p:spPr>
          <a:xfrm>
            <a:off x="4617720" y="3246120"/>
            <a:ext cx="29260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MAE (kWh)</a:t>
            </a:r>
            <a:endParaRPr lang="en-US" sz="1300" dirty="0"/>
          </a:p>
        </p:txBody>
      </p:sp>
      <p:sp>
        <p:nvSpPr>
          <p:cNvPr id="12" name="Text 10"/>
          <p:cNvSpPr/>
          <p:nvPr/>
        </p:nvSpPr>
        <p:spPr>
          <a:xfrm>
            <a:off x="4617720" y="3566160"/>
            <a:ext cx="2926080" cy="640080"/>
          </a:xfrm>
          <a:prstGeom prst="rect">
            <a:avLst/>
          </a:prstGeom>
          <a:noFill/>
          <a:ln/>
        </p:spPr>
        <p:txBody>
          <a:bodyPr wrap="square" lIns="0" tIns="0" rIns="0" bIns="0" rtlCol="0" anchor="ctr"/>
          <a:lstStyle/>
          <a:p>
            <a:pPr marL="0" indent="0">
              <a:lnSpc>
                <a:spcPct val="125000"/>
              </a:lnSpc>
              <a:buNone/>
            </a:pPr>
            <a:r>
              <a:rPr lang="en-US" sz="1050" dirty="0">
                <a:solidFill>
                  <a:srgbClr val="AEBBD1"/>
                </a:solidFill>
                <a:latin typeface="Calibri" pitchFamily="34" charset="0"/>
                <a:ea typeface="Calibri" pitchFamily="34" charset="-122"/>
                <a:cs typeface="Calibri" pitchFamily="34" charset="-120"/>
              </a:rPr>
              <a:t>Average absolute prediction error</a:t>
            </a:r>
            <a:endParaRPr lang="en-US" sz="1050" dirty="0"/>
          </a:p>
        </p:txBody>
      </p:sp>
      <p:sp>
        <p:nvSpPr>
          <p:cNvPr id="13" name="Shape 11"/>
          <p:cNvSpPr/>
          <p:nvPr/>
        </p:nvSpPr>
        <p:spPr>
          <a:xfrm>
            <a:off x="8046720" y="2148840"/>
            <a:ext cx="3520440" cy="2194560"/>
          </a:xfrm>
          <a:prstGeom prst="roundRect">
            <a:avLst>
              <a:gd name="adj" fmla="val 4167"/>
            </a:avLst>
          </a:prstGeom>
          <a:solidFill>
            <a:srgbClr val="1B3A63"/>
          </a:solidFill>
          <a:ln/>
        </p:spPr>
      </p:sp>
      <p:sp>
        <p:nvSpPr>
          <p:cNvPr id="14" name="Text 12"/>
          <p:cNvSpPr/>
          <p:nvPr/>
        </p:nvSpPr>
        <p:spPr>
          <a:xfrm>
            <a:off x="8366760" y="2377440"/>
            <a:ext cx="2926080" cy="868680"/>
          </a:xfrm>
          <a:prstGeom prst="rect">
            <a:avLst/>
          </a:prstGeom>
          <a:noFill/>
          <a:ln/>
        </p:spPr>
        <p:txBody>
          <a:bodyPr wrap="square" lIns="0" tIns="0" rIns="0" bIns="0" rtlCol="0" anchor="ctr"/>
          <a:lstStyle/>
          <a:p>
            <a:pPr marL="0" indent="0">
              <a:buNone/>
            </a:pPr>
            <a:r>
              <a:rPr lang="en-US" sz="4000" b="1" dirty="0">
                <a:solidFill>
                  <a:srgbClr val="F2A93B"/>
                </a:solidFill>
                <a:latin typeface="Cambria" pitchFamily="34" charset="0"/>
                <a:ea typeface="Cambria" pitchFamily="34" charset="-122"/>
                <a:cs typeface="Cambria" pitchFamily="34" charset="-120"/>
              </a:rPr>
              <a:t>24,537.49</a:t>
            </a:r>
            <a:endParaRPr lang="en-US" sz="4000" dirty="0"/>
          </a:p>
        </p:txBody>
      </p:sp>
      <p:sp>
        <p:nvSpPr>
          <p:cNvPr id="15" name="Text 13"/>
          <p:cNvSpPr/>
          <p:nvPr/>
        </p:nvSpPr>
        <p:spPr>
          <a:xfrm>
            <a:off x="8366760" y="3246120"/>
            <a:ext cx="29260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RMSE (kWh)</a:t>
            </a:r>
            <a:endParaRPr lang="en-US" sz="1300" dirty="0"/>
          </a:p>
        </p:txBody>
      </p:sp>
      <p:sp>
        <p:nvSpPr>
          <p:cNvPr id="16" name="Text 14"/>
          <p:cNvSpPr/>
          <p:nvPr/>
        </p:nvSpPr>
        <p:spPr>
          <a:xfrm>
            <a:off x="8366760" y="3566160"/>
            <a:ext cx="2926080" cy="640080"/>
          </a:xfrm>
          <a:prstGeom prst="rect">
            <a:avLst/>
          </a:prstGeom>
          <a:noFill/>
          <a:ln/>
        </p:spPr>
        <p:txBody>
          <a:bodyPr wrap="square" lIns="0" tIns="0" rIns="0" bIns="0" rtlCol="0" anchor="ctr"/>
          <a:lstStyle/>
          <a:p>
            <a:pPr marL="0" indent="0">
              <a:lnSpc>
                <a:spcPct val="125000"/>
              </a:lnSpc>
              <a:buNone/>
            </a:pPr>
            <a:r>
              <a:rPr lang="en-US" sz="1050" dirty="0">
                <a:solidFill>
                  <a:srgbClr val="AEBBD1"/>
                </a:solidFill>
                <a:latin typeface="Calibri" pitchFamily="34" charset="0"/>
                <a:ea typeface="Calibri" pitchFamily="34" charset="-122"/>
                <a:cs typeface="Calibri" pitchFamily="34" charset="-120"/>
              </a:rPr>
              <a:t>Root mean squared error — sensitive to outlier projects</a:t>
            </a:r>
            <a:endParaRPr lang="en-US" sz="1050" dirty="0"/>
          </a:p>
        </p:txBody>
      </p:sp>
      <p:sp>
        <p:nvSpPr>
          <p:cNvPr id="17" name="Text 15"/>
          <p:cNvSpPr/>
          <p:nvPr/>
        </p:nvSpPr>
        <p:spPr>
          <a:xfrm>
            <a:off x="548640" y="4663440"/>
            <a:ext cx="5486400" cy="274320"/>
          </a:xfrm>
          <a:prstGeom prst="rect">
            <a:avLst/>
          </a:prstGeom>
          <a:noFill/>
          <a:ln/>
        </p:spPr>
        <p:txBody>
          <a:bodyPr wrap="square" lIns="0" tIns="0" rIns="0" bIns="0"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MODEL PERSISTENCE</a:t>
            </a:r>
            <a:endParaRPr lang="en-US" sz="1200" dirty="0"/>
          </a:p>
        </p:txBody>
      </p:sp>
      <p:sp>
        <p:nvSpPr>
          <p:cNvPr id="18" name="Text 16"/>
          <p:cNvSpPr/>
          <p:nvPr/>
        </p:nvSpPr>
        <p:spPr>
          <a:xfrm>
            <a:off x="548640" y="4983480"/>
            <a:ext cx="10515600" cy="365760"/>
          </a:xfrm>
          <a:prstGeom prst="rect">
            <a:avLst/>
          </a:prstGeom>
          <a:noFill/>
          <a:ln/>
        </p:spPr>
        <p:txBody>
          <a:bodyPr wrap="square" lIns="0" tIns="0" rIns="0" bIns="0" rtlCol="0" anchor="ctr"/>
          <a:lstStyle/>
          <a:p>
            <a:pPr marL="0" indent="0">
              <a:buNone/>
            </a:pPr>
            <a:r>
              <a:rPr lang="en-US" sz="1150" dirty="0">
                <a:solidFill>
                  <a:srgbClr val="C7D3E3"/>
                </a:solidFill>
                <a:latin typeface="Courier New" pitchFamily="34" charset="0"/>
                <a:ea typeface="Courier New" pitchFamily="34" charset="-122"/>
                <a:cs typeface="Courier New" pitchFamily="34" charset="-120"/>
              </a:rPr>
              <a:t>joblib.dump(best_model, "solar_energy_prediction.pkl")  →  saved and reloaded successfully for inference.</a:t>
            </a:r>
            <a:endParaRPr lang="en-US" sz="1150" dirty="0"/>
          </a:p>
        </p:txBody>
      </p:sp>
      <p:sp>
        <p:nvSpPr>
          <p:cNvPr id="19" name="Text 17"/>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09</a:t>
            </a:r>
            <a:endParaRPr lang="en-US" sz="1000" dirty="0"/>
          </a:p>
        </p:txBody>
      </p:sp>
      <p:sp>
        <p:nvSpPr>
          <p:cNvPr id="20" name="Text 18"/>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16 · DIAGNOSTIC EVALUATION</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Checking the model beyond a single score</a:t>
            </a:r>
            <a:endParaRPr lang="en-US" sz="2900" dirty="0"/>
          </a:p>
        </p:txBody>
      </p:sp>
      <p:sp>
        <p:nvSpPr>
          <p:cNvPr id="4" name="Shape 2"/>
          <p:cNvSpPr/>
          <p:nvPr/>
        </p:nvSpPr>
        <p:spPr>
          <a:xfrm>
            <a:off x="548640" y="1417320"/>
            <a:ext cx="5394960" cy="1965960"/>
          </a:xfrm>
          <a:prstGeom prst="roundRect">
            <a:avLst>
              <a:gd name="adj" fmla="val 3721"/>
            </a:avLst>
          </a:prstGeom>
          <a:solidFill>
            <a:srgbClr val="F5F6F8"/>
          </a:solidFill>
          <a:ln/>
        </p:spPr>
      </p:sp>
      <p:sp>
        <p:nvSpPr>
          <p:cNvPr id="5" name="Shape 3"/>
          <p:cNvSpPr/>
          <p:nvPr/>
        </p:nvSpPr>
        <p:spPr>
          <a:xfrm>
            <a:off x="777240" y="1645920"/>
            <a:ext cx="411480" cy="411480"/>
          </a:xfrm>
          <a:prstGeom prst="ellipse">
            <a:avLst/>
          </a:prstGeom>
          <a:solidFill>
            <a:srgbClr val="12233F"/>
          </a:solidFill>
          <a:ln/>
        </p:spPr>
      </p:sp>
      <p:sp>
        <p:nvSpPr>
          <p:cNvPr id="6" name="Text 4"/>
          <p:cNvSpPr/>
          <p:nvPr/>
        </p:nvSpPr>
        <p:spPr>
          <a:xfrm>
            <a:off x="777240" y="1645920"/>
            <a:ext cx="411480" cy="41148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71600" y="1618488"/>
            <a:ext cx="4389120" cy="365760"/>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Actual vs. Predicted</a:t>
            </a:r>
            <a:endParaRPr lang="en-US" sz="1400" dirty="0"/>
          </a:p>
        </p:txBody>
      </p:sp>
      <p:sp>
        <p:nvSpPr>
          <p:cNvPr id="8" name="Text 6"/>
          <p:cNvSpPr/>
          <p:nvPr/>
        </p:nvSpPr>
        <p:spPr>
          <a:xfrm>
            <a:off x="868680" y="2194560"/>
            <a:ext cx="4754880" cy="1051560"/>
          </a:xfrm>
          <a:prstGeom prst="rect">
            <a:avLst/>
          </a:prstGeom>
          <a:noFill/>
          <a:ln/>
        </p:spPr>
        <p:txBody>
          <a:bodyPr wrap="square" lIns="0" tIns="0" rIns="0" bIns="0" rtlCol="0" anchor="ctr"/>
          <a:lstStyle/>
          <a:p>
            <a:pPr marL="0" indent="0">
              <a:lnSpc>
                <a:spcPct val="130000"/>
              </a:lnSpc>
              <a:buNone/>
            </a:pPr>
            <a:r>
              <a:rPr lang="en-US" sz="1100" dirty="0">
                <a:solidFill>
                  <a:srgbClr val="6B7686"/>
                </a:solidFill>
                <a:latin typeface="Calibri" pitchFamily="34" charset="0"/>
                <a:ea typeface="Calibri" pitchFamily="34" charset="-122"/>
                <a:cs typeface="Calibri" pitchFamily="34" charset="-120"/>
              </a:rPr>
              <a:t>Test-set predictions plotted against actuals track tightly along the 45° reference line, with divergence concentrated among a few extreme utility-scale outliers.</a:t>
            </a:r>
            <a:endParaRPr lang="en-US" sz="1100" dirty="0"/>
          </a:p>
        </p:txBody>
      </p:sp>
      <p:sp>
        <p:nvSpPr>
          <p:cNvPr id="9" name="Shape 7"/>
          <p:cNvSpPr/>
          <p:nvPr/>
        </p:nvSpPr>
        <p:spPr>
          <a:xfrm>
            <a:off x="6217920" y="1417320"/>
            <a:ext cx="5394960" cy="1965960"/>
          </a:xfrm>
          <a:prstGeom prst="roundRect">
            <a:avLst>
              <a:gd name="adj" fmla="val 3721"/>
            </a:avLst>
          </a:prstGeom>
          <a:solidFill>
            <a:srgbClr val="F5F6F8"/>
          </a:solidFill>
          <a:ln/>
        </p:spPr>
      </p:sp>
      <p:sp>
        <p:nvSpPr>
          <p:cNvPr id="10" name="Shape 8"/>
          <p:cNvSpPr/>
          <p:nvPr/>
        </p:nvSpPr>
        <p:spPr>
          <a:xfrm>
            <a:off x="6446520" y="1645920"/>
            <a:ext cx="411480" cy="411480"/>
          </a:xfrm>
          <a:prstGeom prst="ellipse">
            <a:avLst/>
          </a:prstGeom>
          <a:solidFill>
            <a:srgbClr val="12233F"/>
          </a:solidFill>
          <a:ln/>
        </p:spPr>
      </p:sp>
      <p:sp>
        <p:nvSpPr>
          <p:cNvPr id="11" name="Text 9"/>
          <p:cNvSpPr/>
          <p:nvPr/>
        </p:nvSpPr>
        <p:spPr>
          <a:xfrm>
            <a:off x="6446520" y="1645920"/>
            <a:ext cx="411480" cy="41148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040880" y="1618488"/>
            <a:ext cx="4389120" cy="365760"/>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Residual Plot</a:t>
            </a:r>
            <a:endParaRPr lang="en-US" sz="1400" dirty="0"/>
          </a:p>
        </p:txBody>
      </p:sp>
      <p:sp>
        <p:nvSpPr>
          <p:cNvPr id="13" name="Text 11"/>
          <p:cNvSpPr/>
          <p:nvPr/>
        </p:nvSpPr>
        <p:spPr>
          <a:xfrm>
            <a:off x="6537960" y="2194560"/>
            <a:ext cx="4754880" cy="1051560"/>
          </a:xfrm>
          <a:prstGeom prst="rect">
            <a:avLst/>
          </a:prstGeom>
          <a:noFill/>
          <a:ln/>
        </p:spPr>
        <p:txBody>
          <a:bodyPr wrap="square" lIns="0" tIns="0" rIns="0" bIns="0" rtlCol="0" anchor="ctr"/>
          <a:lstStyle/>
          <a:p>
            <a:pPr marL="0" indent="0">
              <a:lnSpc>
                <a:spcPct val="130000"/>
              </a:lnSpc>
              <a:buNone/>
            </a:pPr>
            <a:r>
              <a:rPr lang="en-US" sz="1100" dirty="0">
                <a:solidFill>
                  <a:srgbClr val="6B7686"/>
                </a:solidFill>
                <a:latin typeface="Calibri" pitchFamily="34" charset="0"/>
                <a:ea typeface="Calibri" pitchFamily="34" charset="-122"/>
                <a:cs typeface="Calibri" pitchFamily="34" charset="-120"/>
              </a:rPr>
              <a:t>Residuals scatter close to zero across the predicted range, with variance widening only at the largest project sizes.</a:t>
            </a:r>
            <a:endParaRPr lang="en-US" sz="1100" dirty="0"/>
          </a:p>
        </p:txBody>
      </p:sp>
      <p:sp>
        <p:nvSpPr>
          <p:cNvPr id="14" name="Shape 12"/>
          <p:cNvSpPr/>
          <p:nvPr/>
        </p:nvSpPr>
        <p:spPr>
          <a:xfrm>
            <a:off x="548640" y="3657600"/>
            <a:ext cx="5394960" cy="1965960"/>
          </a:xfrm>
          <a:prstGeom prst="roundRect">
            <a:avLst>
              <a:gd name="adj" fmla="val 3721"/>
            </a:avLst>
          </a:prstGeom>
          <a:solidFill>
            <a:srgbClr val="F5F6F8"/>
          </a:solidFill>
          <a:ln/>
        </p:spPr>
      </p:sp>
      <p:sp>
        <p:nvSpPr>
          <p:cNvPr id="15" name="Shape 13"/>
          <p:cNvSpPr/>
          <p:nvPr/>
        </p:nvSpPr>
        <p:spPr>
          <a:xfrm>
            <a:off x="777240" y="3886200"/>
            <a:ext cx="411480" cy="411480"/>
          </a:xfrm>
          <a:prstGeom prst="ellipse">
            <a:avLst/>
          </a:prstGeom>
          <a:solidFill>
            <a:srgbClr val="12233F"/>
          </a:solidFill>
          <a:ln/>
        </p:spPr>
      </p:sp>
      <p:sp>
        <p:nvSpPr>
          <p:cNvPr id="16" name="Text 14"/>
          <p:cNvSpPr/>
          <p:nvPr/>
        </p:nvSpPr>
        <p:spPr>
          <a:xfrm>
            <a:off x="777240" y="3886200"/>
            <a:ext cx="411480" cy="41148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71600" y="3858768"/>
            <a:ext cx="4389120" cy="365760"/>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Residual Distribution</a:t>
            </a:r>
            <a:endParaRPr lang="en-US" sz="1400" dirty="0"/>
          </a:p>
        </p:txBody>
      </p:sp>
      <p:sp>
        <p:nvSpPr>
          <p:cNvPr id="18" name="Text 16"/>
          <p:cNvSpPr/>
          <p:nvPr/>
        </p:nvSpPr>
        <p:spPr>
          <a:xfrm>
            <a:off x="868680" y="4434840"/>
            <a:ext cx="4754880" cy="1051560"/>
          </a:xfrm>
          <a:prstGeom prst="rect">
            <a:avLst/>
          </a:prstGeom>
          <a:noFill/>
          <a:ln/>
        </p:spPr>
        <p:txBody>
          <a:bodyPr wrap="square" lIns="0" tIns="0" rIns="0" bIns="0" rtlCol="0" anchor="ctr"/>
          <a:lstStyle/>
          <a:p>
            <a:pPr marL="0" indent="0">
              <a:lnSpc>
                <a:spcPct val="130000"/>
              </a:lnSpc>
              <a:buNone/>
            </a:pPr>
            <a:r>
              <a:rPr lang="en-US" sz="1100" dirty="0">
                <a:solidFill>
                  <a:srgbClr val="6B7686"/>
                </a:solidFill>
                <a:latin typeface="Calibri" pitchFamily="34" charset="0"/>
                <a:ea typeface="Calibri" pitchFamily="34" charset="-122"/>
                <a:cs typeface="Calibri" pitchFamily="34" charset="-120"/>
              </a:rPr>
              <a:t>A near-symmetric, sharply peaked histogram of residuals centered at zero — consistent with an unbiased estimator.</a:t>
            </a:r>
            <a:endParaRPr lang="en-US" sz="1100" dirty="0"/>
          </a:p>
        </p:txBody>
      </p:sp>
      <p:sp>
        <p:nvSpPr>
          <p:cNvPr id="19" name="Shape 17"/>
          <p:cNvSpPr/>
          <p:nvPr/>
        </p:nvSpPr>
        <p:spPr>
          <a:xfrm>
            <a:off x="6217920" y="3657600"/>
            <a:ext cx="5394960" cy="1965960"/>
          </a:xfrm>
          <a:prstGeom prst="roundRect">
            <a:avLst>
              <a:gd name="adj" fmla="val 3721"/>
            </a:avLst>
          </a:prstGeom>
          <a:solidFill>
            <a:srgbClr val="F5F6F8"/>
          </a:solidFill>
          <a:ln/>
        </p:spPr>
      </p:sp>
      <p:sp>
        <p:nvSpPr>
          <p:cNvPr id="20" name="Shape 18"/>
          <p:cNvSpPr/>
          <p:nvPr/>
        </p:nvSpPr>
        <p:spPr>
          <a:xfrm>
            <a:off x="6446520" y="3886200"/>
            <a:ext cx="411480" cy="411480"/>
          </a:xfrm>
          <a:prstGeom prst="ellipse">
            <a:avLst/>
          </a:prstGeom>
          <a:solidFill>
            <a:srgbClr val="12233F"/>
          </a:solidFill>
          <a:ln/>
        </p:spPr>
      </p:sp>
      <p:sp>
        <p:nvSpPr>
          <p:cNvPr id="21" name="Text 19"/>
          <p:cNvSpPr/>
          <p:nvPr/>
        </p:nvSpPr>
        <p:spPr>
          <a:xfrm>
            <a:off x="6446520" y="3886200"/>
            <a:ext cx="411480" cy="41148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040880" y="3858768"/>
            <a:ext cx="4389120" cy="365760"/>
          </a:xfrm>
          <a:prstGeom prst="rect">
            <a:avLst/>
          </a:prstGeom>
          <a:noFill/>
          <a:ln/>
        </p:spPr>
        <p:txBody>
          <a:bodyPr wrap="square" lIns="0" tIns="0" rIns="0" bIns="0" rtlCol="0" anchor="ctr"/>
          <a:lstStyle/>
          <a:p>
            <a:pPr marL="0" indent="0">
              <a:buNone/>
            </a:pPr>
            <a:r>
              <a:rPr lang="en-US" sz="1400" b="1" dirty="0">
                <a:solidFill>
                  <a:srgbClr val="12233F"/>
                </a:solidFill>
                <a:latin typeface="Calibri" pitchFamily="34" charset="0"/>
                <a:ea typeface="Calibri" pitchFamily="34" charset="-122"/>
                <a:cs typeface="Calibri" pitchFamily="34" charset="-120"/>
              </a:rPr>
              <a:t>Prediction Error Plot</a:t>
            </a:r>
            <a:endParaRPr lang="en-US" sz="1400" dirty="0"/>
          </a:p>
        </p:txBody>
      </p:sp>
      <p:sp>
        <p:nvSpPr>
          <p:cNvPr id="23" name="Text 21"/>
          <p:cNvSpPr/>
          <p:nvPr/>
        </p:nvSpPr>
        <p:spPr>
          <a:xfrm>
            <a:off x="6537960" y="4434840"/>
            <a:ext cx="4754880" cy="1051560"/>
          </a:xfrm>
          <a:prstGeom prst="rect">
            <a:avLst/>
          </a:prstGeom>
          <a:noFill/>
          <a:ln/>
        </p:spPr>
        <p:txBody>
          <a:bodyPr wrap="square" lIns="0" tIns="0" rIns="0" bIns="0" rtlCol="0" anchor="ctr"/>
          <a:lstStyle/>
          <a:p>
            <a:pPr marL="0" indent="0">
              <a:lnSpc>
                <a:spcPct val="130000"/>
              </a:lnSpc>
              <a:buNone/>
            </a:pPr>
            <a:r>
              <a:rPr lang="en-US" sz="1100" dirty="0">
                <a:solidFill>
                  <a:srgbClr val="6B7686"/>
                </a:solidFill>
                <a:latin typeface="Calibri" pitchFamily="34" charset="0"/>
                <a:ea typeface="Calibri" pitchFamily="34" charset="-122"/>
                <a:cs typeface="Calibri" pitchFamily="34" charset="-120"/>
              </a:rPr>
              <a:t>Confirms error magnitude stays small and stable for the bulk of typical-sized installations.</a:t>
            </a:r>
            <a:endParaRPr lang="en-US" sz="1100" dirty="0"/>
          </a:p>
        </p:txBody>
      </p:sp>
      <p:sp>
        <p:nvSpPr>
          <p:cNvPr id="24" name="Text 22"/>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10</a:t>
            </a:r>
            <a:endParaRPr lang="en-US" sz="1000" dirty="0"/>
          </a:p>
        </p:txBody>
      </p:sp>
      <p:sp>
        <p:nvSpPr>
          <p:cNvPr id="25" name="Text 23"/>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17 · FEATURE IMPORTANCE</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What actually drives predicted output</a:t>
            </a:r>
            <a:endParaRPr lang="en-US" sz="2900" dirty="0"/>
          </a:p>
        </p:txBody>
      </p:sp>
      <p:graphicFrame>
        <p:nvGraphicFramePr>
          <p:cNvPr id="4" name="Chart 0"/>
          <p:cNvGraphicFramePr/>
          <p:nvPr/>
        </p:nvGraphicFramePr>
        <p:xfrm>
          <a:off x="548640" y="1371600"/>
          <a:ext cx="73152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138160" y="1371600"/>
            <a:ext cx="3520440" cy="4846320"/>
          </a:xfrm>
          <a:prstGeom prst="roundRect">
            <a:avLst>
              <a:gd name="adj" fmla="val 2597"/>
            </a:avLst>
          </a:prstGeom>
          <a:solidFill>
            <a:srgbClr val="12233F"/>
          </a:solidFill>
          <a:ln/>
        </p:spPr>
      </p:sp>
      <p:sp>
        <p:nvSpPr>
          <p:cNvPr id="6" name="Text 3"/>
          <p:cNvSpPr/>
          <p:nvPr/>
        </p:nvSpPr>
        <p:spPr>
          <a:xfrm>
            <a:off x="8412480" y="1691640"/>
            <a:ext cx="3017520" cy="548640"/>
          </a:xfrm>
          <a:prstGeom prst="rect">
            <a:avLst/>
          </a:prstGeom>
          <a:noFill/>
          <a:ln/>
        </p:spPr>
        <p:txBody>
          <a:bodyPr wrap="square" lIns="0" tIns="0" rIns="0" bIns="0" rtlCol="0" anchor="ctr"/>
          <a:lstStyle/>
          <a:p>
            <a:pPr marL="0" indent="0">
              <a:lnSpc>
                <a:spcPct val="110000"/>
              </a:lnSpc>
              <a:buNone/>
            </a:pPr>
            <a:r>
              <a:rPr lang="en-US" sz="1600" b="1" dirty="0">
                <a:solidFill>
                  <a:srgbClr val="FFFFFF"/>
                </a:solidFill>
                <a:latin typeface="Cambria" pitchFamily="34" charset="0"/>
                <a:ea typeface="Cambria" pitchFamily="34" charset="-122"/>
                <a:cs typeface="Cambria" pitchFamily="34" charset="-120"/>
              </a:rPr>
              <a:t>94% concentrated in 2 features</a:t>
            </a:r>
            <a:endParaRPr lang="en-US" sz="1600" dirty="0"/>
          </a:p>
        </p:txBody>
      </p:sp>
      <p:sp>
        <p:nvSpPr>
          <p:cNvPr id="7" name="Text 4"/>
          <p:cNvSpPr/>
          <p:nvPr/>
        </p:nvSpPr>
        <p:spPr>
          <a:xfrm>
            <a:off x="8412480" y="2331720"/>
            <a:ext cx="3017520" cy="1463040"/>
          </a:xfrm>
          <a:prstGeom prst="rect">
            <a:avLst/>
          </a:prstGeom>
          <a:noFill/>
          <a:ln/>
        </p:spPr>
        <p:txBody>
          <a:bodyPr wrap="square" lIns="0" tIns="0" rIns="0" bIns="0" rtlCol="0" anchor="ctr"/>
          <a:lstStyle/>
          <a:p>
            <a:pPr marL="0" indent="0">
              <a:lnSpc>
                <a:spcPct val="130000"/>
              </a:lnSpc>
              <a:buNone/>
            </a:pPr>
            <a:r>
              <a:rPr lang="en-US" sz="1100" dirty="0">
                <a:solidFill>
                  <a:srgbClr val="C7D3E3"/>
                </a:solidFill>
                <a:latin typeface="Calibri" pitchFamily="34" charset="0"/>
                <a:ea typeface="Calibri" pitchFamily="34" charset="-122"/>
                <a:cs typeface="Calibri" pitchFamily="34" charset="-120"/>
              </a:rPr>
              <a:t>PV_kWac (52.2%) and PV_kWdc (41.8%) together explain roughly 94% of the Random Forest's predictive weight — physically sensible, since installed capacity is the primary determinant of annual output.</a:t>
            </a:r>
            <a:endParaRPr lang="en-US" sz="1100" dirty="0"/>
          </a:p>
        </p:txBody>
      </p:sp>
      <p:sp>
        <p:nvSpPr>
          <p:cNvPr id="8" name="Shape 5"/>
          <p:cNvSpPr/>
          <p:nvPr/>
        </p:nvSpPr>
        <p:spPr>
          <a:xfrm>
            <a:off x="8412480" y="3977640"/>
            <a:ext cx="3017520" cy="0"/>
          </a:xfrm>
          <a:prstGeom prst="line">
            <a:avLst/>
          </a:prstGeom>
          <a:noFill/>
          <a:ln w="12700">
            <a:solidFill>
              <a:srgbClr val="2E4468"/>
            </a:solidFill>
            <a:prstDash val="solid"/>
          </a:ln>
        </p:spPr>
      </p:sp>
      <p:sp>
        <p:nvSpPr>
          <p:cNvPr id="9" name="Text 6"/>
          <p:cNvSpPr/>
          <p:nvPr/>
        </p:nvSpPr>
        <p:spPr>
          <a:xfrm>
            <a:off x="8412480" y="4160520"/>
            <a:ext cx="3017520" cy="1737360"/>
          </a:xfrm>
          <a:prstGeom prst="rect">
            <a:avLst/>
          </a:prstGeom>
          <a:noFill/>
          <a:ln/>
        </p:spPr>
        <p:txBody>
          <a:bodyPr wrap="square" lIns="0" tIns="0" rIns="0" bIns="0" rtlCol="0" anchor="ctr"/>
          <a:lstStyle/>
          <a:p>
            <a:pPr marL="0" indent="0">
              <a:lnSpc>
                <a:spcPct val="130000"/>
              </a:lnSpc>
              <a:buNone/>
            </a:pPr>
            <a:r>
              <a:rPr lang="en-US" sz="1100" dirty="0">
                <a:solidFill>
                  <a:srgbClr val="AEBBD1"/>
                </a:solidFill>
                <a:latin typeface="Calibri" pitchFamily="34" charset="0"/>
                <a:ea typeface="Calibri" pitchFamily="34" charset="-122"/>
                <a:cs typeface="Calibri" pitchFamily="34" charset="-120"/>
              </a:rPr>
              <a:t>Remaining ~6% spreads thinly across geography, circuit, developer and connection-date features — long-tail signal, not core drivers.</a:t>
            </a:r>
            <a:endParaRPr lang="en-US" sz="1100" dirty="0"/>
          </a:p>
        </p:txBody>
      </p:sp>
      <p:sp>
        <p:nvSpPr>
          <p:cNvPr id="10" name="Text 7"/>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11</a:t>
            </a:r>
            <a:endParaRPr lang="en-US" sz="1000" dirty="0"/>
          </a:p>
        </p:txBody>
      </p:sp>
      <p:sp>
        <p:nvSpPr>
          <p:cNvPr id="11" name="Text 8"/>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STEP 16–17 · PERSISTENCE &amp; INFERENCE</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From notebook to a reusable prediction service</a:t>
            </a:r>
            <a:endParaRPr lang="en-US" sz="2900" dirty="0"/>
          </a:p>
        </p:txBody>
      </p:sp>
      <p:sp>
        <p:nvSpPr>
          <p:cNvPr id="4" name="Shape 2"/>
          <p:cNvSpPr/>
          <p:nvPr/>
        </p:nvSpPr>
        <p:spPr>
          <a:xfrm>
            <a:off x="548640" y="1554480"/>
            <a:ext cx="2606040" cy="1554480"/>
          </a:xfrm>
          <a:prstGeom prst="roundRect">
            <a:avLst>
              <a:gd name="adj" fmla="val 5294"/>
            </a:avLst>
          </a:prstGeom>
          <a:solidFill>
            <a:srgbClr val="F5F6F8"/>
          </a:solidFill>
          <a:ln/>
        </p:spPr>
      </p:sp>
      <p:sp>
        <p:nvSpPr>
          <p:cNvPr id="5" name="Shape 3"/>
          <p:cNvSpPr/>
          <p:nvPr/>
        </p:nvSpPr>
        <p:spPr>
          <a:xfrm>
            <a:off x="749808" y="1737360"/>
            <a:ext cx="438912" cy="438912"/>
          </a:xfrm>
          <a:prstGeom prst="ellipse">
            <a:avLst/>
          </a:prstGeom>
          <a:solidFill>
            <a:srgbClr val="12233F"/>
          </a:solidFill>
          <a:ln/>
        </p:spPr>
      </p:sp>
      <p:sp>
        <p:nvSpPr>
          <p:cNvPr id="6" name="Text 4"/>
          <p:cNvSpPr/>
          <p:nvPr/>
        </p:nvSpPr>
        <p:spPr>
          <a:xfrm>
            <a:off x="749808" y="1737360"/>
            <a:ext cx="438912" cy="438912"/>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49808" y="2267712"/>
            <a:ext cx="2203704" cy="27432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Train</a:t>
            </a:r>
            <a:endParaRPr lang="en-US" sz="1300" dirty="0"/>
          </a:p>
        </p:txBody>
      </p:sp>
      <p:sp>
        <p:nvSpPr>
          <p:cNvPr id="8" name="Text 6"/>
          <p:cNvSpPr/>
          <p:nvPr/>
        </p:nvSpPr>
        <p:spPr>
          <a:xfrm>
            <a:off x="749808" y="2560320"/>
            <a:ext cx="2203704" cy="502920"/>
          </a:xfrm>
          <a:prstGeom prst="rect">
            <a:avLst/>
          </a:prstGeom>
          <a:noFill/>
          <a:ln/>
        </p:spPr>
        <p:txBody>
          <a:bodyPr wrap="square" lIns="0" tIns="0" rIns="0" bIns="0" rtlCol="0" anchor="ctr"/>
          <a:lstStyle/>
          <a:p>
            <a:pPr marL="0" indent="0">
              <a:lnSpc>
                <a:spcPct val="115000"/>
              </a:lnSpc>
              <a:buNone/>
            </a:pPr>
            <a:r>
              <a:rPr lang="en-US" sz="850" dirty="0">
                <a:solidFill>
                  <a:srgbClr val="6B7686"/>
                </a:solidFill>
                <a:latin typeface="Courier New" pitchFamily="34" charset="0"/>
                <a:ea typeface="Courier New" pitchFamily="34" charset="-122"/>
                <a:cs typeface="Courier New" pitchFamily="34" charset="-120"/>
              </a:rPr>
              <a:t>best_model = rf  (fitted Pipeline)</a:t>
            </a:r>
            <a:endParaRPr lang="en-US" sz="850" dirty="0"/>
          </a:p>
        </p:txBody>
      </p:sp>
      <p:sp>
        <p:nvSpPr>
          <p:cNvPr id="9" name="Text 7"/>
          <p:cNvSpPr/>
          <p:nvPr/>
        </p:nvSpPr>
        <p:spPr>
          <a:xfrm>
            <a:off x="3172968" y="2057400"/>
            <a:ext cx="228600" cy="548640"/>
          </a:xfrm>
          <a:prstGeom prst="rect">
            <a:avLst/>
          </a:prstGeom>
          <a:noFill/>
          <a:ln/>
        </p:spPr>
        <p:txBody>
          <a:bodyPr wrap="square" lIns="0" tIns="0" rIns="0" bIns="0" rtlCol="0" anchor="ctr"/>
          <a:lstStyle/>
          <a:p>
            <a:pPr marL="0" indent="0" algn="ctr">
              <a:buNone/>
            </a:pPr>
            <a:r>
              <a:rPr lang="en-US" sz="1800" dirty="0">
                <a:solidFill>
                  <a:srgbClr val="E8580C"/>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3383280" y="1554480"/>
            <a:ext cx="2606040" cy="1554480"/>
          </a:xfrm>
          <a:prstGeom prst="roundRect">
            <a:avLst>
              <a:gd name="adj" fmla="val 5294"/>
            </a:avLst>
          </a:prstGeom>
          <a:solidFill>
            <a:srgbClr val="F5F6F8"/>
          </a:solidFill>
          <a:ln/>
        </p:spPr>
      </p:sp>
      <p:sp>
        <p:nvSpPr>
          <p:cNvPr id="11" name="Shape 9"/>
          <p:cNvSpPr/>
          <p:nvPr/>
        </p:nvSpPr>
        <p:spPr>
          <a:xfrm>
            <a:off x="3584448" y="1737360"/>
            <a:ext cx="438912" cy="438912"/>
          </a:xfrm>
          <a:prstGeom prst="ellipse">
            <a:avLst/>
          </a:prstGeom>
          <a:solidFill>
            <a:srgbClr val="12233F"/>
          </a:solidFill>
          <a:ln/>
        </p:spPr>
      </p:sp>
      <p:sp>
        <p:nvSpPr>
          <p:cNvPr id="12" name="Text 10"/>
          <p:cNvSpPr/>
          <p:nvPr/>
        </p:nvSpPr>
        <p:spPr>
          <a:xfrm>
            <a:off x="3584448" y="1737360"/>
            <a:ext cx="438912" cy="438912"/>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3584448" y="2267712"/>
            <a:ext cx="2203704" cy="27432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Save</a:t>
            </a:r>
            <a:endParaRPr lang="en-US" sz="1300" dirty="0"/>
          </a:p>
        </p:txBody>
      </p:sp>
      <p:sp>
        <p:nvSpPr>
          <p:cNvPr id="14" name="Text 12"/>
          <p:cNvSpPr/>
          <p:nvPr/>
        </p:nvSpPr>
        <p:spPr>
          <a:xfrm>
            <a:off x="3584448" y="2560320"/>
            <a:ext cx="2203704" cy="502920"/>
          </a:xfrm>
          <a:prstGeom prst="rect">
            <a:avLst/>
          </a:prstGeom>
          <a:noFill/>
          <a:ln/>
        </p:spPr>
        <p:txBody>
          <a:bodyPr wrap="square" lIns="0" tIns="0" rIns="0" bIns="0" rtlCol="0" anchor="ctr"/>
          <a:lstStyle/>
          <a:p>
            <a:pPr marL="0" indent="0">
              <a:lnSpc>
                <a:spcPct val="115000"/>
              </a:lnSpc>
              <a:buNone/>
            </a:pPr>
            <a:r>
              <a:rPr lang="en-US" sz="850" dirty="0">
                <a:solidFill>
                  <a:srgbClr val="6B7686"/>
                </a:solidFill>
                <a:latin typeface="Courier New" pitchFamily="34" charset="0"/>
                <a:ea typeface="Courier New" pitchFamily="34" charset="-122"/>
                <a:cs typeface="Courier New" pitchFamily="34" charset="-120"/>
              </a:rPr>
              <a:t>joblib.dump(best_model, "solar_energy_prediction.pkl")</a:t>
            </a:r>
            <a:endParaRPr lang="en-US" sz="850" dirty="0"/>
          </a:p>
        </p:txBody>
      </p:sp>
      <p:sp>
        <p:nvSpPr>
          <p:cNvPr id="15" name="Text 13"/>
          <p:cNvSpPr/>
          <p:nvPr/>
        </p:nvSpPr>
        <p:spPr>
          <a:xfrm>
            <a:off x="6007608" y="2057400"/>
            <a:ext cx="228600" cy="548640"/>
          </a:xfrm>
          <a:prstGeom prst="rect">
            <a:avLst/>
          </a:prstGeom>
          <a:noFill/>
          <a:ln/>
        </p:spPr>
        <p:txBody>
          <a:bodyPr wrap="square" lIns="0" tIns="0" rIns="0" bIns="0" rtlCol="0" anchor="ctr"/>
          <a:lstStyle/>
          <a:p>
            <a:pPr marL="0" indent="0" algn="ctr">
              <a:buNone/>
            </a:pPr>
            <a:r>
              <a:rPr lang="en-US" sz="1800" dirty="0">
                <a:solidFill>
                  <a:srgbClr val="E8580C"/>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217920" y="1554480"/>
            <a:ext cx="2606040" cy="1554480"/>
          </a:xfrm>
          <a:prstGeom prst="roundRect">
            <a:avLst>
              <a:gd name="adj" fmla="val 5294"/>
            </a:avLst>
          </a:prstGeom>
          <a:solidFill>
            <a:srgbClr val="F5F6F8"/>
          </a:solidFill>
          <a:ln/>
        </p:spPr>
      </p:sp>
      <p:sp>
        <p:nvSpPr>
          <p:cNvPr id="17" name="Shape 15"/>
          <p:cNvSpPr/>
          <p:nvPr/>
        </p:nvSpPr>
        <p:spPr>
          <a:xfrm>
            <a:off x="6419088" y="1737360"/>
            <a:ext cx="438912" cy="438912"/>
          </a:xfrm>
          <a:prstGeom prst="ellipse">
            <a:avLst/>
          </a:prstGeom>
          <a:solidFill>
            <a:srgbClr val="12233F"/>
          </a:solidFill>
          <a:ln/>
        </p:spPr>
      </p:sp>
      <p:sp>
        <p:nvSpPr>
          <p:cNvPr id="18" name="Text 16"/>
          <p:cNvSpPr/>
          <p:nvPr/>
        </p:nvSpPr>
        <p:spPr>
          <a:xfrm>
            <a:off x="6419088" y="1737360"/>
            <a:ext cx="438912" cy="438912"/>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6419088" y="2267712"/>
            <a:ext cx="2203704" cy="27432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Reload</a:t>
            </a:r>
            <a:endParaRPr lang="en-US" sz="1300" dirty="0"/>
          </a:p>
        </p:txBody>
      </p:sp>
      <p:sp>
        <p:nvSpPr>
          <p:cNvPr id="20" name="Text 18"/>
          <p:cNvSpPr/>
          <p:nvPr/>
        </p:nvSpPr>
        <p:spPr>
          <a:xfrm>
            <a:off x="6419088" y="2560320"/>
            <a:ext cx="2203704" cy="502920"/>
          </a:xfrm>
          <a:prstGeom prst="rect">
            <a:avLst/>
          </a:prstGeom>
          <a:noFill/>
          <a:ln/>
        </p:spPr>
        <p:txBody>
          <a:bodyPr wrap="square" lIns="0" tIns="0" rIns="0" bIns="0" rtlCol="0" anchor="ctr"/>
          <a:lstStyle/>
          <a:p>
            <a:pPr marL="0" indent="0">
              <a:lnSpc>
                <a:spcPct val="115000"/>
              </a:lnSpc>
              <a:buNone/>
            </a:pPr>
            <a:r>
              <a:rPr lang="en-US" sz="850" dirty="0">
                <a:solidFill>
                  <a:srgbClr val="6B7686"/>
                </a:solidFill>
                <a:latin typeface="Courier New" pitchFamily="34" charset="0"/>
                <a:ea typeface="Courier New" pitchFamily="34" charset="-122"/>
                <a:cs typeface="Courier New" pitchFamily="34" charset="-120"/>
              </a:rPr>
              <a:t>model = joblib.load("solar_energy_prediction.pkl")</a:t>
            </a:r>
            <a:endParaRPr lang="en-US" sz="850" dirty="0"/>
          </a:p>
        </p:txBody>
      </p:sp>
      <p:sp>
        <p:nvSpPr>
          <p:cNvPr id="21" name="Text 19"/>
          <p:cNvSpPr/>
          <p:nvPr/>
        </p:nvSpPr>
        <p:spPr>
          <a:xfrm>
            <a:off x="8842248" y="2057400"/>
            <a:ext cx="228600" cy="548640"/>
          </a:xfrm>
          <a:prstGeom prst="rect">
            <a:avLst/>
          </a:prstGeom>
          <a:noFill/>
          <a:ln/>
        </p:spPr>
        <p:txBody>
          <a:bodyPr wrap="square" lIns="0" tIns="0" rIns="0" bIns="0" rtlCol="0" anchor="ctr"/>
          <a:lstStyle/>
          <a:p>
            <a:pPr marL="0" indent="0" algn="ctr">
              <a:buNone/>
            </a:pPr>
            <a:r>
              <a:rPr lang="en-US" sz="1800" dirty="0">
                <a:solidFill>
                  <a:srgbClr val="E8580C"/>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9052560" y="1554480"/>
            <a:ext cx="2606040" cy="1554480"/>
          </a:xfrm>
          <a:prstGeom prst="roundRect">
            <a:avLst>
              <a:gd name="adj" fmla="val 5294"/>
            </a:avLst>
          </a:prstGeom>
          <a:solidFill>
            <a:srgbClr val="F5F6F8"/>
          </a:solidFill>
          <a:ln/>
        </p:spPr>
      </p:sp>
      <p:sp>
        <p:nvSpPr>
          <p:cNvPr id="23" name="Shape 21"/>
          <p:cNvSpPr/>
          <p:nvPr/>
        </p:nvSpPr>
        <p:spPr>
          <a:xfrm>
            <a:off x="9253728" y="1737360"/>
            <a:ext cx="438912" cy="438912"/>
          </a:xfrm>
          <a:prstGeom prst="ellipse">
            <a:avLst/>
          </a:prstGeom>
          <a:solidFill>
            <a:srgbClr val="12233F"/>
          </a:solidFill>
          <a:ln/>
        </p:spPr>
      </p:sp>
      <p:sp>
        <p:nvSpPr>
          <p:cNvPr id="24" name="Text 22"/>
          <p:cNvSpPr/>
          <p:nvPr/>
        </p:nvSpPr>
        <p:spPr>
          <a:xfrm>
            <a:off x="9253728" y="1737360"/>
            <a:ext cx="438912" cy="438912"/>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9253728" y="2267712"/>
            <a:ext cx="2203704" cy="27432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Predict</a:t>
            </a:r>
            <a:endParaRPr lang="en-US" sz="1300" dirty="0"/>
          </a:p>
        </p:txBody>
      </p:sp>
      <p:sp>
        <p:nvSpPr>
          <p:cNvPr id="26" name="Text 24"/>
          <p:cNvSpPr/>
          <p:nvPr/>
        </p:nvSpPr>
        <p:spPr>
          <a:xfrm>
            <a:off x="9253728" y="2560320"/>
            <a:ext cx="2203704" cy="502920"/>
          </a:xfrm>
          <a:prstGeom prst="rect">
            <a:avLst/>
          </a:prstGeom>
          <a:noFill/>
          <a:ln/>
        </p:spPr>
        <p:txBody>
          <a:bodyPr wrap="square" lIns="0" tIns="0" rIns="0" bIns="0" rtlCol="0" anchor="ctr"/>
          <a:lstStyle/>
          <a:p>
            <a:pPr marL="0" indent="0">
              <a:lnSpc>
                <a:spcPct val="115000"/>
              </a:lnSpc>
              <a:buNone/>
            </a:pPr>
            <a:r>
              <a:rPr lang="en-US" sz="850" dirty="0">
                <a:solidFill>
                  <a:srgbClr val="6B7686"/>
                </a:solidFill>
                <a:latin typeface="Courier New" pitchFamily="34" charset="0"/>
                <a:ea typeface="Courier New" pitchFamily="34" charset="-122"/>
                <a:cs typeface="Courier New" pitchFamily="34" charset="-120"/>
              </a:rPr>
              <a:t>model.predict(sample)  → new project forecast</a:t>
            </a:r>
            <a:endParaRPr lang="en-US" sz="850" dirty="0"/>
          </a:p>
        </p:txBody>
      </p:sp>
      <p:sp>
        <p:nvSpPr>
          <p:cNvPr id="27" name="Shape 25"/>
          <p:cNvSpPr/>
          <p:nvPr/>
        </p:nvSpPr>
        <p:spPr>
          <a:xfrm>
            <a:off x="548640" y="3520440"/>
            <a:ext cx="11064240" cy="2606040"/>
          </a:xfrm>
          <a:prstGeom prst="roundRect">
            <a:avLst>
              <a:gd name="adj" fmla="val 3509"/>
            </a:avLst>
          </a:prstGeom>
          <a:solidFill>
            <a:srgbClr val="12233F"/>
          </a:solidFill>
          <a:ln/>
        </p:spPr>
      </p:sp>
      <p:sp>
        <p:nvSpPr>
          <p:cNvPr id="28" name="Text 26"/>
          <p:cNvSpPr/>
          <p:nvPr/>
        </p:nvSpPr>
        <p:spPr>
          <a:xfrm>
            <a:off x="914400" y="3794760"/>
            <a:ext cx="5486400" cy="320040"/>
          </a:xfrm>
          <a:prstGeom prst="rect">
            <a:avLst/>
          </a:prstGeom>
          <a:noFill/>
          <a:ln/>
        </p:spPr>
        <p:txBody>
          <a:bodyPr wrap="square" lIns="0" tIns="0" rIns="0" bIns="0"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SAMPLE INFERENCE OUTPUT</a:t>
            </a:r>
            <a:endParaRPr lang="en-US" sz="1200" dirty="0"/>
          </a:p>
        </p:txBody>
      </p:sp>
      <p:sp>
        <p:nvSpPr>
          <p:cNvPr id="29" name="Text 27"/>
          <p:cNvSpPr/>
          <p:nvPr/>
        </p:nvSpPr>
        <p:spPr>
          <a:xfrm>
            <a:off x="914400" y="4160520"/>
            <a:ext cx="4572000" cy="1188720"/>
          </a:xfrm>
          <a:prstGeom prst="rect">
            <a:avLst/>
          </a:prstGeom>
          <a:noFill/>
          <a:ln/>
        </p:spPr>
        <p:txBody>
          <a:bodyPr wrap="square" lIns="0" tIns="0" rIns="0" bIns="0" rtlCol="0" anchor="ctr"/>
          <a:lstStyle/>
          <a:p>
            <a:pPr marL="0" indent="0">
              <a:buNone/>
            </a:pPr>
            <a:r>
              <a:rPr lang="en-US" sz="6200" b="1" dirty="0">
                <a:solidFill>
                  <a:srgbClr val="FFFFFF"/>
                </a:solidFill>
                <a:latin typeface="Cambria" pitchFamily="34" charset="0"/>
                <a:ea typeface="Cambria" pitchFamily="34" charset="-122"/>
                <a:cs typeface="Cambria" pitchFamily="34" charset="-120"/>
              </a:rPr>
              <a:t>7,100</a:t>
            </a:r>
            <a:endParaRPr lang="en-US" sz="6200" dirty="0"/>
          </a:p>
        </p:txBody>
      </p:sp>
      <p:sp>
        <p:nvSpPr>
          <p:cNvPr id="30" name="Text 28"/>
          <p:cNvSpPr/>
          <p:nvPr/>
        </p:nvSpPr>
        <p:spPr>
          <a:xfrm>
            <a:off x="914400" y="5349240"/>
            <a:ext cx="4754880" cy="640080"/>
          </a:xfrm>
          <a:prstGeom prst="rect">
            <a:avLst/>
          </a:prstGeom>
          <a:noFill/>
          <a:ln/>
        </p:spPr>
        <p:txBody>
          <a:bodyPr wrap="square" lIns="0" tIns="0" rIns="0" bIns="0" rtlCol="0" anchor="ctr"/>
          <a:lstStyle/>
          <a:p>
            <a:pPr marL="0" indent="0">
              <a:lnSpc>
                <a:spcPct val="125000"/>
              </a:lnSpc>
              <a:buNone/>
            </a:pPr>
            <a:r>
              <a:rPr lang="en-US" sz="1200" dirty="0">
                <a:solidFill>
                  <a:srgbClr val="AEBBD1"/>
                </a:solidFill>
                <a:latin typeface="Calibri" pitchFamily="34" charset="0"/>
                <a:ea typeface="Calibri" pitchFamily="34" charset="-122"/>
                <a:cs typeface="Calibri" pitchFamily="34" charset="-120"/>
              </a:rPr>
              <a:t>kWh — predicted annual PV energy production for the first held-out sample project</a:t>
            </a:r>
            <a:endParaRPr lang="en-US" sz="1200" dirty="0"/>
          </a:p>
        </p:txBody>
      </p:sp>
      <p:sp>
        <p:nvSpPr>
          <p:cNvPr id="31" name="Shape 29"/>
          <p:cNvSpPr/>
          <p:nvPr/>
        </p:nvSpPr>
        <p:spPr>
          <a:xfrm>
            <a:off x="6126480" y="3931920"/>
            <a:ext cx="0" cy="1965960"/>
          </a:xfrm>
          <a:prstGeom prst="line">
            <a:avLst/>
          </a:prstGeom>
          <a:noFill/>
          <a:ln w="12700">
            <a:solidFill>
              <a:srgbClr val="2E4468"/>
            </a:solidFill>
            <a:prstDash val="solid"/>
          </a:ln>
        </p:spPr>
      </p:sp>
      <p:sp>
        <p:nvSpPr>
          <p:cNvPr id="32" name="Text 30"/>
          <p:cNvSpPr/>
          <p:nvPr/>
        </p:nvSpPr>
        <p:spPr>
          <a:xfrm>
            <a:off x="6400800" y="4114800"/>
            <a:ext cx="4937760" cy="1737360"/>
          </a:xfrm>
          <a:prstGeom prst="rect">
            <a:avLst/>
          </a:prstGeom>
          <a:noFill/>
          <a:ln/>
        </p:spPr>
        <p:txBody>
          <a:bodyPr wrap="square" lIns="0" tIns="0" rIns="0" bIns="0" rtlCol="0" anchor="ctr"/>
          <a:lstStyle/>
          <a:p>
            <a:pPr marL="0" indent="0">
              <a:lnSpc>
                <a:spcPct val="140000"/>
              </a:lnSpc>
              <a:buNone/>
            </a:pPr>
            <a:r>
              <a:rPr lang="en-US" sz="1200" dirty="0">
                <a:solidFill>
                  <a:srgbClr val="C7D3E3"/>
                </a:solidFill>
                <a:latin typeface="Calibri" pitchFamily="34" charset="0"/>
                <a:ea typeface="Calibri" pitchFamily="34" charset="-122"/>
                <a:cs typeface="Calibri" pitchFamily="34" charset="-120"/>
              </a:rPr>
              <a:t>This pattern generalizes to any new project record: feed raw fields through the same fitted pipeline and receive an instant annual-output forecast — no manual feature engineering required at inference time.</a:t>
            </a:r>
            <a:endParaRPr lang="en-US" sz="1200" dirty="0"/>
          </a:p>
        </p:txBody>
      </p:sp>
      <p:sp>
        <p:nvSpPr>
          <p:cNvPr id="33" name="Text 3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12</a:t>
            </a:r>
            <a:endParaRPr lang="en-US" sz="1000" dirty="0"/>
          </a:p>
        </p:txBody>
      </p:sp>
      <p:sp>
        <p:nvSpPr>
          <p:cNvPr id="34" name="Text 32"/>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marL="0" indent="0" algn="l">
              <a:buNone/>
            </a:pPr>
            <a:r>
              <a:rPr lang="en-US" sz="1150" b="1" kern="0" spc="200" dirty="0">
                <a:solidFill>
                  <a:srgbClr val="E8580C"/>
                </a:solidFill>
                <a:latin typeface="Calibri" pitchFamily="34" charset="0"/>
                <a:ea typeface="Calibri" pitchFamily="34" charset="-122"/>
                <a:cs typeface="Calibri" pitchFamily="34" charset="-120"/>
              </a:rPr>
              <a:t>BUSINESS INSIGHTS</a:t>
            </a:r>
            <a:endParaRPr lang="en-US" sz="115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2900" b="1" dirty="0">
                <a:solidFill>
                  <a:srgbClr val="12233F"/>
                </a:solidFill>
                <a:latin typeface="Cambria" pitchFamily="34" charset="0"/>
                <a:ea typeface="Cambria" pitchFamily="34" charset="-122"/>
                <a:cs typeface="Cambria" pitchFamily="34" charset="-120"/>
              </a:rPr>
              <a:t>Turning predictions into decisions</a:t>
            </a:r>
            <a:endParaRPr lang="en-US" sz="2900" dirty="0"/>
          </a:p>
        </p:txBody>
      </p:sp>
      <p:sp>
        <p:nvSpPr>
          <p:cNvPr id="4" name="Shape 2"/>
          <p:cNvSpPr/>
          <p:nvPr/>
        </p:nvSpPr>
        <p:spPr>
          <a:xfrm>
            <a:off x="548640" y="1417320"/>
            <a:ext cx="5394960" cy="1417320"/>
          </a:xfrm>
          <a:prstGeom prst="roundRect">
            <a:avLst>
              <a:gd name="adj" fmla="val 5161"/>
            </a:avLst>
          </a:prstGeom>
          <a:solidFill>
            <a:srgbClr val="F5F6F8"/>
          </a:solidFill>
          <a:ln/>
        </p:spPr>
      </p:sp>
      <p:sp>
        <p:nvSpPr>
          <p:cNvPr id="5" name="Shape 3"/>
          <p:cNvSpPr/>
          <p:nvPr/>
        </p:nvSpPr>
        <p:spPr>
          <a:xfrm>
            <a:off x="777240" y="1645920"/>
            <a:ext cx="411480" cy="411480"/>
          </a:xfrm>
          <a:prstGeom prst="ellipse">
            <a:avLst/>
          </a:prstGeom>
          <a:solidFill>
            <a:srgbClr val="12233F"/>
          </a:solidFill>
          <a:ln/>
        </p:spPr>
      </p:sp>
      <p:sp>
        <p:nvSpPr>
          <p:cNvPr id="6" name="Text 4"/>
          <p:cNvSpPr/>
          <p:nvPr/>
        </p:nvSpPr>
        <p:spPr>
          <a:xfrm>
            <a:off x="777240" y="1645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371600" y="1581912"/>
            <a:ext cx="434340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Reliable forecasting</a:t>
            </a:r>
            <a:endParaRPr lang="en-US" sz="1300" dirty="0"/>
          </a:p>
        </p:txBody>
      </p:sp>
      <p:sp>
        <p:nvSpPr>
          <p:cNvPr id="8" name="Text 6"/>
          <p:cNvSpPr/>
          <p:nvPr/>
        </p:nvSpPr>
        <p:spPr>
          <a:xfrm>
            <a:off x="1371600" y="1920240"/>
            <a:ext cx="4343400" cy="82296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The model accurately predicts annual solar energy production from project specifications.</a:t>
            </a:r>
            <a:endParaRPr lang="en-US" sz="1050" dirty="0"/>
          </a:p>
        </p:txBody>
      </p:sp>
      <p:sp>
        <p:nvSpPr>
          <p:cNvPr id="9" name="Shape 7"/>
          <p:cNvSpPr/>
          <p:nvPr/>
        </p:nvSpPr>
        <p:spPr>
          <a:xfrm>
            <a:off x="6217920" y="1417320"/>
            <a:ext cx="5394960" cy="1417320"/>
          </a:xfrm>
          <a:prstGeom prst="roundRect">
            <a:avLst>
              <a:gd name="adj" fmla="val 5161"/>
            </a:avLst>
          </a:prstGeom>
          <a:solidFill>
            <a:srgbClr val="F5F6F8"/>
          </a:solidFill>
          <a:ln/>
        </p:spPr>
      </p:sp>
      <p:sp>
        <p:nvSpPr>
          <p:cNvPr id="10" name="Shape 8"/>
          <p:cNvSpPr/>
          <p:nvPr/>
        </p:nvSpPr>
        <p:spPr>
          <a:xfrm>
            <a:off x="6446520" y="1645920"/>
            <a:ext cx="411480" cy="411480"/>
          </a:xfrm>
          <a:prstGeom prst="ellipse">
            <a:avLst/>
          </a:prstGeom>
          <a:solidFill>
            <a:srgbClr val="E8580C"/>
          </a:solidFill>
          <a:ln/>
        </p:spPr>
      </p:sp>
      <p:sp>
        <p:nvSpPr>
          <p:cNvPr id="11" name="Text 9"/>
          <p:cNvSpPr/>
          <p:nvPr/>
        </p:nvSpPr>
        <p:spPr>
          <a:xfrm>
            <a:off x="6446520" y="1645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7040880" y="1581912"/>
            <a:ext cx="434340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Pre-installation estimates</a:t>
            </a:r>
            <a:endParaRPr lang="en-US" sz="1300" dirty="0"/>
          </a:p>
        </p:txBody>
      </p:sp>
      <p:sp>
        <p:nvSpPr>
          <p:cNvPr id="13" name="Text 11"/>
          <p:cNvSpPr/>
          <p:nvPr/>
        </p:nvSpPr>
        <p:spPr>
          <a:xfrm>
            <a:off x="7040880" y="1920240"/>
            <a:ext cx="4343400" cy="82296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Energy providers can estimate future generation before installing new solar systems.</a:t>
            </a:r>
            <a:endParaRPr lang="en-US" sz="1050" dirty="0"/>
          </a:p>
        </p:txBody>
      </p:sp>
      <p:sp>
        <p:nvSpPr>
          <p:cNvPr id="14" name="Shape 12"/>
          <p:cNvSpPr/>
          <p:nvPr/>
        </p:nvSpPr>
        <p:spPr>
          <a:xfrm>
            <a:off x="548640" y="3063240"/>
            <a:ext cx="5394960" cy="1417320"/>
          </a:xfrm>
          <a:prstGeom prst="roundRect">
            <a:avLst>
              <a:gd name="adj" fmla="val 5161"/>
            </a:avLst>
          </a:prstGeom>
          <a:solidFill>
            <a:srgbClr val="F5F6F8"/>
          </a:solidFill>
          <a:ln/>
        </p:spPr>
      </p:sp>
      <p:sp>
        <p:nvSpPr>
          <p:cNvPr id="15" name="Shape 13"/>
          <p:cNvSpPr/>
          <p:nvPr/>
        </p:nvSpPr>
        <p:spPr>
          <a:xfrm>
            <a:off x="777240" y="3291840"/>
            <a:ext cx="411480" cy="411480"/>
          </a:xfrm>
          <a:prstGeom prst="ellipse">
            <a:avLst/>
          </a:prstGeom>
          <a:solidFill>
            <a:srgbClr val="12233F"/>
          </a:solidFill>
          <a:ln/>
        </p:spPr>
      </p:sp>
      <p:sp>
        <p:nvSpPr>
          <p:cNvPr id="16" name="Text 14"/>
          <p:cNvSpPr/>
          <p:nvPr/>
        </p:nvSpPr>
        <p:spPr>
          <a:xfrm>
            <a:off x="777240" y="32918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371600" y="3227832"/>
            <a:ext cx="434340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ROI-driven investment</a:t>
            </a:r>
            <a:endParaRPr lang="en-US" sz="1300" dirty="0"/>
          </a:p>
        </p:txBody>
      </p:sp>
      <p:sp>
        <p:nvSpPr>
          <p:cNvPr id="18" name="Text 16"/>
          <p:cNvSpPr/>
          <p:nvPr/>
        </p:nvSpPr>
        <p:spPr>
          <a:xfrm>
            <a:off x="1371600" y="3566160"/>
            <a:ext cx="4343400" cy="82296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Investors can identify high-performing solar projects to help maximize return on investment.</a:t>
            </a:r>
            <a:endParaRPr lang="en-US" sz="1050" dirty="0"/>
          </a:p>
        </p:txBody>
      </p:sp>
      <p:sp>
        <p:nvSpPr>
          <p:cNvPr id="19" name="Shape 17"/>
          <p:cNvSpPr/>
          <p:nvPr/>
        </p:nvSpPr>
        <p:spPr>
          <a:xfrm>
            <a:off x="6217920" y="3063240"/>
            <a:ext cx="5394960" cy="1417320"/>
          </a:xfrm>
          <a:prstGeom prst="roundRect">
            <a:avLst>
              <a:gd name="adj" fmla="val 5161"/>
            </a:avLst>
          </a:prstGeom>
          <a:solidFill>
            <a:srgbClr val="F5F6F8"/>
          </a:solidFill>
          <a:ln/>
        </p:spPr>
      </p:sp>
      <p:sp>
        <p:nvSpPr>
          <p:cNvPr id="20" name="Shape 18"/>
          <p:cNvSpPr/>
          <p:nvPr/>
        </p:nvSpPr>
        <p:spPr>
          <a:xfrm>
            <a:off x="6446520" y="3291840"/>
            <a:ext cx="411480" cy="411480"/>
          </a:xfrm>
          <a:prstGeom prst="ellipse">
            <a:avLst/>
          </a:prstGeom>
          <a:solidFill>
            <a:srgbClr val="E8580C"/>
          </a:solidFill>
          <a:ln/>
        </p:spPr>
      </p:sp>
      <p:sp>
        <p:nvSpPr>
          <p:cNvPr id="21" name="Text 19"/>
          <p:cNvSpPr/>
          <p:nvPr/>
        </p:nvSpPr>
        <p:spPr>
          <a:xfrm>
            <a:off x="6446520" y="32918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040880" y="3227832"/>
            <a:ext cx="434340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Smarter grid planning</a:t>
            </a:r>
            <a:endParaRPr lang="en-US" sz="1300" dirty="0"/>
          </a:p>
        </p:txBody>
      </p:sp>
      <p:sp>
        <p:nvSpPr>
          <p:cNvPr id="23" name="Text 21"/>
          <p:cNvSpPr/>
          <p:nvPr/>
        </p:nvSpPr>
        <p:spPr>
          <a:xfrm>
            <a:off x="7040880" y="3566160"/>
            <a:ext cx="4343400" cy="82296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Utility companies can improve grid planning by forecasting expected solar power generation.</a:t>
            </a:r>
            <a:endParaRPr lang="en-US" sz="1050" dirty="0"/>
          </a:p>
        </p:txBody>
      </p:sp>
      <p:sp>
        <p:nvSpPr>
          <p:cNvPr id="24" name="Shape 22"/>
          <p:cNvSpPr/>
          <p:nvPr/>
        </p:nvSpPr>
        <p:spPr>
          <a:xfrm>
            <a:off x="548640" y="4709160"/>
            <a:ext cx="5394960" cy="1417320"/>
          </a:xfrm>
          <a:prstGeom prst="roundRect">
            <a:avLst>
              <a:gd name="adj" fmla="val 5161"/>
            </a:avLst>
          </a:prstGeom>
          <a:solidFill>
            <a:srgbClr val="F5F6F8"/>
          </a:solidFill>
          <a:ln/>
        </p:spPr>
      </p:sp>
      <p:sp>
        <p:nvSpPr>
          <p:cNvPr id="25" name="Shape 23"/>
          <p:cNvSpPr/>
          <p:nvPr/>
        </p:nvSpPr>
        <p:spPr>
          <a:xfrm>
            <a:off x="777240" y="4937760"/>
            <a:ext cx="411480" cy="411480"/>
          </a:xfrm>
          <a:prstGeom prst="ellipse">
            <a:avLst/>
          </a:prstGeom>
          <a:solidFill>
            <a:srgbClr val="12233F"/>
          </a:solidFill>
          <a:ln/>
        </p:spPr>
      </p:sp>
      <p:sp>
        <p:nvSpPr>
          <p:cNvPr id="26" name="Text 24"/>
          <p:cNvSpPr/>
          <p:nvPr/>
        </p:nvSpPr>
        <p:spPr>
          <a:xfrm>
            <a:off x="777240" y="4937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371600" y="4873752"/>
            <a:ext cx="434340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Optimized system design</a:t>
            </a:r>
            <a:endParaRPr lang="en-US" sz="1300" dirty="0"/>
          </a:p>
        </p:txBody>
      </p:sp>
      <p:sp>
        <p:nvSpPr>
          <p:cNvPr id="28" name="Text 26"/>
          <p:cNvSpPr/>
          <p:nvPr/>
        </p:nvSpPr>
        <p:spPr>
          <a:xfrm>
            <a:off x="1371600" y="5212080"/>
            <a:ext cx="4343400" cy="82296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System designers can optimize PV capacity to increase annual energy output.</a:t>
            </a:r>
            <a:endParaRPr lang="en-US" sz="1050" dirty="0"/>
          </a:p>
        </p:txBody>
      </p:sp>
      <p:sp>
        <p:nvSpPr>
          <p:cNvPr id="29" name="Shape 27"/>
          <p:cNvSpPr/>
          <p:nvPr/>
        </p:nvSpPr>
        <p:spPr>
          <a:xfrm>
            <a:off x="6217920" y="4709160"/>
            <a:ext cx="5394960" cy="1417320"/>
          </a:xfrm>
          <a:prstGeom prst="roundRect">
            <a:avLst>
              <a:gd name="adj" fmla="val 5161"/>
            </a:avLst>
          </a:prstGeom>
          <a:solidFill>
            <a:srgbClr val="F5F6F8"/>
          </a:solidFill>
          <a:ln/>
        </p:spPr>
      </p:sp>
      <p:sp>
        <p:nvSpPr>
          <p:cNvPr id="30" name="Shape 28"/>
          <p:cNvSpPr/>
          <p:nvPr/>
        </p:nvSpPr>
        <p:spPr>
          <a:xfrm>
            <a:off x="6446520" y="4937760"/>
            <a:ext cx="411480" cy="411480"/>
          </a:xfrm>
          <a:prstGeom prst="ellipse">
            <a:avLst/>
          </a:prstGeom>
          <a:solidFill>
            <a:srgbClr val="E8580C"/>
          </a:solidFill>
          <a:ln/>
        </p:spPr>
      </p:sp>
      <p:sp>
        <p:nvSpPr>
          <p:cNvPr id="31" name="Text 29"/>
          <p:cNvSpPr/>
          <p:nvPr/>
        </p:nvSpPr>
        <p:spPr>
          <a:xfrm>
            <a:off x="6446520" y="4937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7040880" y="4873752"/>
            <a:ext cx="4343400" cy="320040"/>
          </a:xfrm>
          <a:prstGeom prst="rect">
            <a:avLst/>
          </a:prstGeom>
          <a:noFill/>
          <a:ln/>
        </p:spPr>
        <p:txBody>
          <a:bodyPr wrap="square" lIns="0" tIns="0" rIns="0" bIns="0" rtlCol="0" anchor="ctr"/>
          <a:lstStyle/>
          <a:p>
            <a:pPr marL="0" indent="0">
              <a:buNone/>
            </a:pPr>
            <a:r>
              <a:rPr lang="en-US" sz="1300" b="1" dirty="0">
                <a:solidFill>
                  <a:srgbClr val="12233F"/>
                </a:solidFill>
                <a:latin typeface="Calibri" pitchFamily="34" charset="0"/>
                <a:ea typeface="Calibri" pitchFamily="34" charset="-122"/>
                <a:cs typeface="Calibri" pitchFamily="34" charset="-120"/>
              </a:rPr>
              <a:t>Sustainable expansion</a:t>
            </a:r>
            <a:endParaRPr lang="en-US" sz="1300" dirty="0"/>
          </a:p>
        </p:txBody>
      </p:sp>
      <p:sp>
        <p:nvSpPr>
          <p:cNvPr id="33" name="Text 31"/>
          <p:cNvSpPr/>
          <p:nvPr/>
        </p:nvSpPr>
        <p:spPr>
          <a:xfrm>
            <a:off x="7040880" y="5212080"/>
            <a:ext cx="4343400" cy="822960"/>
          </a:xfrm>
          <a:prstGeom prst="rect">
            <a:avLst/>
          </a:prstGeom>
          <a:noFill/>
          <a:ln/>
        </p:spPr>
        <p:txBody>
          <a:bodyPr wrap="square" lIns="0" tIns="0" rIns="0" bIns="0" rtlCol="0" anchor="ctr"/>
          <a:lstStyle/>
          <a:p>
            <a:pPr marL="0" indent="0">
              <a:lnSpc>
                <a:spcPct val="125000"/>
              </a:lnSpc>
              <a:buNone/>
            </a:pPr>
            <a:r>
              <a:rPr lang="en-US" sz="1050" dirty="0">
                <a:solidFill>
                  <a:srgbClr val="6B7686"/>
                </a:solidFill>
                <a:latin typeface="Calibri" pitchFamily="34" charset="0"/>
                <a:ea typeface="Calibri" pitchFamily="34" charset="-122"/>
                <a:cs typeface="Calibri" pitchFamily="34" charset="-120"/>
              </a:rPr>
              <a:t>Supports data-driven decisions for renewable energy expansion and infrastructure planning.</a:t>
            </a:r>
            <a:endParaRPr lang="en-US" sz="1050" dirty="0"/>
          </a:p>
        </p:txBody>
      </p:sp>
      <p:sp>
        <p:nvSpPr>
          <p:cNvPr id="34" name="Text 32"/>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13</a:t>
            </a:r>
            <a:endParaRPr lang="en-US" sz="1000" dirty="0"/>
          </a:p>
        </p:txBody>
      </p:sp>
      <p:sp>
        <p:nvSpPr>
          <p:cNvPr id="35" name="Text 33"/>
          <p:cNvSpPr/>
          <p:nvPr/>
        </p:nvSpPr>
        <p:spPr>
          <a:xfrm>
            <a:off x="548640" y="6400800"/>
            <a:ext cx="5486400" cy="274320"/>
          </a:xfrm>
          <a:prstGeom prst="rect">
            <a:avLst/>
          </a:prstGeom>
          <a:noFill/>
          <a:ln/>
        </p:spPr>
        <p:txBody>
          <a:bodyPr wrap="square" lIns="0" tIns="0" rIns="0" bIns="0" rtlCol="0" anchor="ctr"/>
          <a:lstStyle/>
          <a:p>
            <a:pPr marL="0" indent="0" algn="l">
              <a:buNone/>
            </a:pPr>
            <a:r>
              <a:rPr lang="en-US" sz="900" kern="0" spc="100" dirty="0">
                <a:solidFill>
                  <a:srgbClr val="6B7686"/>
                </a:solidFill>
                <a:latin typeface="Calibri" pitchFamily="34" charset="0"/>
                <a:ea typeface="Calibri" pitchFamily="34" charset="-122"/>
                <a:cs typeface="Calibri" pitchFamily="34" charset="-120"/>
              </a:rPr>
              <a:t>SOLAR ENERGY PRODUCTION MODEL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1645920" y="3840480"/>
            <a:ext cx="5029200" cy="5029200"/>
          </a:xfrm>
          <a:prstGeom prst="ellipse">
            <a:avLst/>
          </a:prstGeom>
          <a:solidFill>
            <a:srgbClr val="1B3A63"/>
          </a:solidFill>
          <a:ln/>
        </p:spPr>
      </p:sp>
      <p:sp>
        <p:nvSpPr>
          <p:cNvPr id="3" name="Shape 1"/>
          <p:cNvSpPr/>
          <p:nvPr/>
        </p:nvSpPr>
        <p:spPr>
          <a:xfrm>
            <a:off x="-1005840" y="4480560"/>
            <a:ext cx="3749040" cy="3749040"/>
          </a:xfrm>
          <a:prstGeom prst="ellipse">
            <a:avLst/>
          </a:prstGeom>
          <a:solidFill>
            <a:srgbClr val="F2A93B"/>
          </a:solidFill>
          <a:ln/>
        </p:spPr>
      </p:sp>
      <p:sp>
        <p:nvSpPr>
          <p:cNvPr id="4" name="Text 2"/>
          <p:cNvSpPr/>
          <p:nvPr/>
        </p:nvSpPr>
        <p:spPr>
          <a:xfrm>
            <a:off x="822960" y="2377440"/>
            <a:ext cx="8229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868680" y="3337560"/>
            <a:ext cx="7315200" cy="457200"/>
          </a:xfrm>
          <a:prstGeom prst="rect">
            <a:avLst/>
          </a:prstGeom>
          <a:noFill/>
          <a:ln/>
        </p:spPr>
        <p:txBody>
          <a:bodyPr wrap="square" lIns="0" tIns="0" rIns="0" bIns="0" rtlCol="0" anchor="ctr"/>
          <a:lstStyle/>
          <a:p>
            <a:pPr marL="0" indent="0">
              <a:buNone/>
            </a:pPr>
            <a:r>
              <a:rPr lang="en-US" sz="1500" dirty="0">
                <a:solidFill>
                  <a:srgbClr val="C7D3E3"/>
                </a:solidFill>
                <a:latin typeface="Calibri" pitchFamily="34" charset="0"/>
                <a:ea typeface="Calibri" pitchFamily="34" charset="-122"/>
                <a:cs typeface="Calibri" pitchFamily="34" charset="-120"/>
              </a:rPr>
              <a:t>Questions &amp; discussion welcome.</a:t>
            </a:r>
            <a:endParaRPr lang="en-US" sz="1500" dirty="0"/>
          </a:p>
        </p:txBody>
      </p:sp>
      <p:sp>
        <p:nvSpPr>
          <p:cNvPr id="6" name="Shape 4"/>
          <p:cNvSpPr/>
          <p:nvPr/>
        </p:nvSpPr>
        <p:spPr>
          <a:xfrm>
            <a:off x="868680" y="3977640"/>
            <a:ext cx="914400" cy="0"/>
          </a:xfrm>
          <a:prstGeom prst="line">
            <a:avLst/>
          </a:prstGeom>
          <a:noFill/>
          <a:ln w="31750">
            <a:solidFill>
              <a:srgbClr val="F2A93B"/>
            </a:solidFill>
            <a:prstDash val="solid"/>
          </a:ln>
        </p:spPr>
      </p:sp>
      <p:sp>
        <p:nvSpPr>
          <p:cNvPr id="7" name="Text 5"/>
          <p:cNvSpPr/>
          <p:nvPr/>
        </p:nvSpPr>
        <p:spPr>
          <a:xfrm>
            <a:off x="868680" y="4160520"/>
            <a:ext cx="7315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Dipanjan Karmakar</a:t>
            </a:r>
            <a:endParaRPr lang="en-US" sz="1400" dirty="0"/>
          </a:p>
        </p:txBody>
      </p:sp>
      <p:sp>
        <p:nvSpPr>
          <p:cNvPr id="8" name="Text 6"/>
          <p:cNvSpPr/>
          <p:nvPr/>
        </p:nvSpPr>
        <p:spPr>
          <a:xfrm>
            <a:off x="868680" y="4480560"/>
            <a:ext cx="7315200" cy="365760"/>
          </a:xfrm>
          <a:prstGeom prst="rect">
            <a:avLst/>
          </a:prstGeom>
          <a:noFill/>
          <a:ln/>
        </p:spPr>
        <p:txBody>
          <a:bodyPr wrap="square" lIns="0" tIns="0" rIns="0" bIns="0" rtlCol="0" anchor="ctr"/>
          <a:lstStyle/>
          <a:p>
            <a:pPr marL="0" indent="0">
              <a:buNone/>
            </a:pPr>
            <a:r>
              <a:rPr lang="en-US" sz="1200" dirty="0">
                <a:solidFill>
                  <a:srgbClr val="9AA9C0"/>
                </a:solidFill>
                <a:latin typeface="Calibri" pitchFamily="34" charset="0"/>
                <a:ea typeface="Calibri" pitchFamily="34" charset="-122"/>
                <a:cs typeface="Calibri" pitchFamily="34" charset="-120"/>
              </a:rPr>
              <a:t>Data Science &amp; Generative 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1519</Words>
  <Application>Microsoft Office PowerPoint</Application>
  <PresentationFormat>Widescreen</PresentationFormat>
  <Paragraphs>237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DIPANJAN KARMAKAR</cp:lastModifiedBy>
  <cp:revision>3</cp:revision>
  <dcterms:created xsi:type="dcterms:W3CDTF">2026-07-30T08:48:28Z</dcterms:created>
  <dcterms:modified xsi:type="dcterms:W3CDTF">2026-07-31T19:22:39Z</dcterms:modified>
</cp:coreProperties>
</file>